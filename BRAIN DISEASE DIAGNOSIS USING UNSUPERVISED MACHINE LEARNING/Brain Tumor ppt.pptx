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2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BCBB"/>
    <a:srgbClr val="81A1C1"/>
    <a:srgbClr val="B48EAD"/>
    <a:srgbClr val="D8DEE9"/>
    <a:srgbClr val="DAE3E3"/>
    <a:srgbClr val="FBE9E7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AFBD-9DE1-4C33-A4F2-F763DE048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57759-C96B-4523-9CF7-FADBA81EF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F71C0-CB8E-4D71-970D-D73854D5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A54ED-F031-4DAA-B43F-0EE829AB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0978-3543-4FE8-B15A-F3E52C978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5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B8CF-8650-410C-8E0B-7E64668D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08138-56D2-4BA7-9873-2D42214E4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4A0FE-AF8A-4A34-AD13-523BDB60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7406-7031-4E99-8866-51E4DB61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6F717-B64E-4AC4-A967-C436A24E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65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309D-4F52-4BE7-93D2-224FBBD1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0496A-5B1F-432D-9ED3-0C4D51690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161DC-763F-4663-929D-B1CA994D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213EC-6A33-4A73-90B8-EE18C751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4ACBF-D164-45AB-9047-57DFBC34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49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2889-BC90-43BF-A029-780E6E3A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B370E-A2E3-4F0A-80D7-7BD98FEBC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BD412-4624-4685-93EA-34FE4059A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7540-5279-435B-AC1F-1297F40A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23739-3479-40D7-917A-08662C43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10534-4ADC-4312-9914-C9ACBEE2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25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3786-9D5B-4E32-A3D2-B0296642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126B6-81F9-41C3-9FE9-F4A5CB541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95536-CDD1-4AF4-BE96-3CDD0735F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ABFF1-6106-470F-988B-39B97F75E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8F5E-4158-46B8-BB44-C4F754107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1E593-4D1E-4501-A51D-882254EB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C1861-05E0-4823-92D6-676F87E0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B9BE2-EFC5-4001-839A-4FEC4D4F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57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F52B-B350-4DA2-8ACE-F18B6E123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A45BA-7439-429E-9715-299F6754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10028-CA83-4ADA-9970-530817F9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B2519-5CF3-4AA0-BCCD-E445EDE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49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27A5E-12E4-48F4-A303-D9EE1D4B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E9848-6F0A-43C8-A2C7-554EF2B0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533C5-1345-4E9F-8090-4E0C1B94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1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58B4-AF96-46F8-8F08-D45E59C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85E5-D518-4AD1-B186-26828AB7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1DB41-3001-41F4-BA90-4DBD60569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8C6E6-7C7F-43E7-ABAA-E6E45BC7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CFB5D-C1D0-4475-86A8-1FCCA6D3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AF0E6-5530-4AAC-BC8F-4EFF4379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66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04D2-CEFA-4A9E-A202-41FACD75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10C0B3-C3E8-47DD-95AC-D55A6D450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00EF3-4C95-400D-9A73-3B6493997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0313A-B2FE-428F-B772-2ECE8444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A1A55-AF4D-499C-ACF0-FDD1031A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D163E-F7BB-45F7-89E3-103EE7EC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59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66F7-AC71-49D4-B29B-A0DB8124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B276C-E817-4991-9491-60C88AA87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3DF2A-A8F7-449F-A7F4-031019B56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9218E-EA78-450B-95A7-C36BF02C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4F59D-E217-44F8-8224-781B1FFF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5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DA684-B3D9-481D-B923-D458CBE25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8E128-FE64-4A9E-9531-1F5AA13DA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71F7B-2C2C-4EB1-8AAA-7526DF61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8F55F-3D9A-4752-B1DB-087C767D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01859-8E5A-4D83-B1F5-D819F69B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8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30D1A-983D-4D63-B3A1-07193ACEF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54B3C-2064-41D5-A5EE-A6CD0C102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893CE-C4AC-4C91-BB30-E09F6589B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FE2C4-3EB7-43D8-B4C0-6C7A93CD28AB}" type="datetimeFigureOut">
              <a:rPr lang="en-IN" smtClean="0"/>
              <a:t>13-07-2024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BC77-91F6-446B-977B-BB31DB3F4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B6AB-1D04-4623-AAAC-5D4881E80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C6648-3C6A-42D3-A168-890F2C759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rits.s1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://www.mrits.ac.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11" Type="http://schemas.microsoft.com/office/2007/relationships/hdphoto" Target="../media/hdphoto1.wdp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microsoft.com/office/2007/relationships/hdphoto" Target="../media/hdphoto5.wdp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microsoft.com/office/2007/relationships/hdphoto" Target="../media/hdphoto1.wdp"/><Relationship Id="rId10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C75612-38B3-49BA-AF7D-0E5E8A631A57}"/>
              </a:ext>
            </a:extLst>
          </p:cNvPr>
          <p:cNvSpPr txBox="1">
            <a:spLocks/>
          </p:cNvSpPr>
          <p:nvPr/>
        </p:nvSpPr>
        <p:spPr>
          <a:xfrm>
            <a:off x="1200374" y="2525133"/>
            <a:ext cx="9914860" cy="18077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1600" b="1" dirty="0">
                <a:latin typeface="Bookman Old Style" panose="02050604050505020204" pitchFamily="18" charset="0"/>
              </a:rPr>
              <a:t>DEPARTMENT OF </a:t>
            </a:r>
            <a:r>
              <a:rPr lang="en-US" sz="1600" b="1" dirty="0">
                <a:latin typeface="Bookman Old Style" panose="02050604050505020204" pitchFamily="18" charset="0"/>
              </a:rPr>
              <a:t>COMPUTER SCIENCE AND ENGINEERING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latin typeface="Bookman Old Style" panose="02050604050505020204" pitchFamily="18" charset="0"/>
              </a:rPr>
              <a:t>(ARTIFICIAL INTELLEGENCE AND MACHINE LEARNING)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IN" sz="1600" b="1" dirty="0">
              <a:latin typeface="Bookman Old Style" panose="02050604050505020204" pitchFamily="18" charset="0"/>
            </a:endParaRPr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  <a:cs typeface="Bookman Old Style" panose="02050604050505020204" pitchFamily="18" charset="0"/>
              </a:rPr>
              <a:t>Deep Learning Applications In Medical Image Analysis - Brain Tumor</a:t>
            </a:r>
            <a:endParaRPr lang="en-IN" sz="2400" b="1" dirty="0">
              <a:solidFill>
                <a:srgbClr val="7030A0"/>
              </a:solidFill>
              <a:latin typeface="Bookman Old Style" panose="020506040505050202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IN" sz="1900" b="1" dirty="0">
              <a:latin typeface="Bookman Old Style" panose="020506040505050202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IN" sz="1900" b="1" dirty="0">
              <a:latin typeface="Bookman Old Style" panose="02050604050505020204" pitchFamily="18" charset="0"/>
            </a:endParaRPr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IN" sz="2400" b="1" dirty="0">
              <a:solidFill>
                <a:srgbClr val="7030A0"/>
              </a:solidFill>
              <a:latin typeface="Bookman Old Style" panose="020506040505050202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IN" sz="1600" b="1" dirty="0">
              <a:latin typeface="Bookman Old Style" panose="02050604050505020204" pitchFamily="18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en-IN" sz="1600" b="1" dirty="0">
              <a:latin typeface="Bookman Old Style" panose="020506040505050202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294B8-C97B-4F9A-AEB4-F8953652C47A}"/>
              </a:ext>
            </a:extLst>
          </p:cNvPr>
          <p:cNvSpPr txBox="1"/>
          <p:nvPr/>
        </p:nvSpPr>
        <p:spPr>
          <a:xfrm>
            <a:off x="371475" y="4132690"/>
            <a:ext cx="4947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Bookman Old Style" panose="02050604050505020204" pitchFamily="18" charset="0"/>
              </a:rPr>
              <a:t>PRESENTED BY:</a:t>
            </a:r>
          </a:p>
          <a:p>
            <a:endParaRPr lang="en-IN" b="1" dirty="0">
              <a:latin typeface="Bookman Old Style" panose="02050604050505020204" pitchFamily="18" charset="0"/>
            </a:endParaRPr>
          </a:p>
          <a:p>
            <a:pPr marL="269240" marR="317500">
              <a:lnSpc>
                <a:spcPct val="150000"/>
              </a:lnSpc>
              <a:spcAft>
                <a:spcPts val="0"/>
              </a:spcAft>
            </a:pPr>
            <a:r>
              <a:rPr lang="en-US" sz="1800" b="1" dirty="0">
                <a:effectLst/>
                <a:latin typeface="Bookman Old Style" panose="020506040505050202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N LIKHITH REDDY     21S11A6687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240" marR="317500">
              <a:lnSpc>
                <a:spcPct val="150000"/>
              </a:lnSpc>
              <a:spcAft>
                <a:spcPts val="0"/>
              </a:spcAft>
            </a:pPr>
            <a:r>
              <a:rPr lang="en-US" sz="1800" b="1" dirty="0">
                <a:effectLst/>
                <a:latin typeface="Bookman Old Style" panose="020506040505050202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D ANIKETH                21S11A6671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240" marR="317500">
              <a:lnSpc>
                <a:spcPct val="150000"/>
              </a:lnSpc>
              <a:spcAft>
                <a:spcPts val="0"/>
              </a:spcAft>
            </a:pPr>
            <a:r>
              <a:rPr lang="en-US" sz="1800" b="1" dirty="0">
                <a:effectLst/>
                <a:latin typeface="Bookman Old Style" panose="020506040505050202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T MANOHAR              21S11A6689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240" marR="317500">
              <a:lnSpc>
                <a:spcPct val="150000"/>
              </a:lnSpc>
              <a:spcAft>
                <a:spcPts val="0"/>
              </a:spcAft>
            </a:pPr>
            <a:r>
              <a:rPr lang="en-US" sz="1800" b="1" dirty="0">
                <a:effectLst/>
                <a:latin typeface="Bookman Old Style" panose="020506040505050202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A VINAY                	 21S11A66C5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A85D7-EB3E-4D5E-9271-753359ADCDCA}"/>
              </a:ext>
            </a:extLst>
          </p:cNvPr>
          <p:cNvSpPr txBox="1"/>
          <p:nvPr/>
        </p:nvSpPr>
        <p:spPr>
          <a:xfrm>
            <a:off x="7169375" y="4442518"/>
            <a:ext cx="4947920" cy="1965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Bookman Old Style" panose="02050604050505020204" pitchFamily="18" charset="0"/>
              </a:rPr>
              <a:t>UNDER GUIDENCE OF:</a:t>
            </a:r>
          </a:p>
          <a:p>
            <a:endParaRPr lang="en-IN" sz="18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Dr. VAKA MURALI MOHAN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</a:p>
          <a:p>
            <a:pPr algn="ctr">
              <a:lnSpc>
                <a:spcPct val="115000"/>
              </a:lnSpc>
            </a:pPr>
            <a:r>
              <a:rPr lang="en-US" sz="1800" dirty="0">
                <a:solidFill>
                  <a:srgbClr val="000099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B. Tech, M. Tech, Ph.D.</a:t>
            </a:r>
            <a:r>
              <a:rPr lang="en-US" sz="1800" dirty="0">
                <a:solidFill>
                  <a:srgbClr val="0000FF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sz="1800" i="1" dirty="0">
                <a:solidFill>
                  <a:srgbClr val="000099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Principal &amp; Professor of CSE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4F626129-F7B8-4ADE-A726-D33F929F7268}"/>
              </a:ext>
            </a:extLst>
          </p:cNvPr>
          <p:cNvSpPr txBox="1">
            <a:spLocks/>
          </p:cNvSpPr>
          <p:nvPr/>
        </p:nvSpPr>
        <p:spPr>
          <a:xfrm>
            <a:off x="754697" y="233997"/>
            <a:ext cx="1109091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750" spc="250">
                <a:solidFill>
                  <a:srgbClr val="7A31B1"/>
                </a:solidFill>
                <a:latin typeface="Cambria"/>
                <a:cs typeface="Cambria"/>
              </a:rPr>
              <a:t>MALLA</a:t>
            </a:r>
            <a:r>
              <a:rPr lang="en-US" sz="2750" spc="330">
                <a:solidFill>
                  <a:srgbClr val="7A31B1"/>
                </a:solidFill>
                <a:latin typeface="Cambria"/>
                <a:cs typeface="Cambria"/>
              </a:rPr>
              <a:t> </a:t>
            </a:r>
            <a:r>
              <a:rPr lang="en-US" sz="2750" spc="305">
                <a:solidFill>
                  <a:srgbClr val="7A31B1"/>
                </a:solidFill>
                <a:latin typeface="Cambria"/>
                <a:cs typeface="Cambria"/>
              </a:rPr>
              <a:t>REDDY</a:t>
            </a:r>
            <a:r>
              <a:rPr lang="en-US" sz="2750" spc="315">
                <a:solidFill>
                  <a:srgbClr val="7A31B1"/>
                </a:solidFill>
                <a:latin typeface="Cambria"/>
                <a:cs typeface="Cambria"/>
              </a:rPr>
              <a:t> </a:t>
            </a:r>
            <a:r>
              <a:rPr lang="en-US" sz="2750" spc="235">
                <a:solidFill>
                  <a:srgbClr val="7A31B1"/>
                </a:solidFill>
                <a:latin typeface="Cambria"/>
                <a:cs typeface="Cambria"/>
              </a:rPr>
              <a:t>INSTITUTE</a:t>
            </a:r>
            <a:r>
              <a:rPr lang="en-US" sz="2750" spc="335">
                <a:solidFill>
                  <a:srgbClr val="7A31B1"/>
                </a:solidFill>
                <a:latin typeface="Cambria"/>
                <a:cs typeface="Cambria"/>
              </a:rPr>
              <a:t> </a:t>
            </a:r>
            <a:r>
              <a:rPr lang="en-US" sz="2750" spc="345">
                <a:solidFill>
                  <a:srgbClr val="7A31B1"/>
                </a:solidFill>
                <a:latin typeface="Cambria"/>
                <a:cs typeface="Cambria"/>
              </a:rPr>
              <a:t>OF</a:t>
            </a:r>
            <a:r>
              <a:rPr lang="en-US" sz="2750" spc="370">
                <a:solidFill>
                  <a:srgbClr val="7A31B1"/>
                </a:solidFill>
                <a:latin typeface="Cambria"/>
                <a:cs typeface="Cambria"/>
              </a:rPr>
              <a:t> </a:t>
            </a:r>
            <a:r>
              <a:rPr lang="en-US" sz="2750" spc="315">
                <a:solidFill>
                  <a:srgbClr val="7A31B1"/>
                </a:solidFill>
                <a:latin typeface="Cambria"/>
                <a:cs typeface="Cambria"/>
              </a:rPr>
              <a:t>TECHNOLOGY</a:t>
            </a:r>
            <a:r>
              <a:rPr lang="en-US" sz="2750" spc="380">
                <a:solidFill>
                  <a:srgbClr val="7A31B1"/>
                </a:solidFill>
                <a:latin typeface="Cambria"/>
                <a:cs typeface="Cambria"/>
              </a:rPr>
              <a:t> </a:t>
            </a:r>
            <a:r>
              <a:rPr lang="en-US" sz="2750" spc="195">
                <a:solidFill>
                  <a:srgbClr val="7A31B1"/>
                </a:solidFill>
                <a:latin typeface="Cambria"/>
                <a:cs typeface="Cambria"/>
              </a:rPr>
              <a:t>AND</a:t>
            </a:r>
            <a:r>
              <a:rPr lang="en-US" sz="2750" spc="385">
                <a:solidFill>
                  <a:srgbClr val="7A31B1"/>
                </a:solidFill>
                <a:latin typeface="Cambria"/>
                <a:cs typeface="Cambria"/>
              </a:rPr>
              <a:t> </a:t>
            </a:r>
            <a:r>
              <a:rPr lang="en-US" sz="2750" spc="365">
                <a:solidFill>
                  <a:srgbClr val="7A31B1"/>
                </a:solidFill>
                <a:latin typeface="Cambria"/>
                <a:cs typeface="Cambria"/>
              </a:rPr>
              <a:t>SCIENCE</a:t>
            </a:r>
            <a:endParaRPr lang="en-US" sz="2750" dirty="0">
              <a:latin typeface="Cambria"/>
              <a:cs typeface="Cambria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E49DA98-45D5-494F-9875-1ECC642BD2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" y="885825"/>
            <a:ext cx="1114425" cy="1162050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74A59923-DD4E-4201-B535-38731B677898}"/>
              </a:ext>
            </a:extLst>
          </p:cNvPr>
          <p:cNvSpPr txBox="1"/>
          <p:nvPr/>
        </p:nvSpPr>
        <p:spPr>
          <a:xfrm>
            <a:off x="1871726" y="653479"/>
            <a:ext cx="8572156" cy="209409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43815" algn="ctr">
              <a:lnSpc>
                <a:spcPct val="100000"/>
              </a:lnSpc>
              <a:spcBef>
                <a:spcPts val="125"/>
              </a:spcBef>
            </a:pPr>
            <a:r>
              <a:rPr sz="2000" b="1" spc="135" dirty="0">
                <a:solidFill>
                  <a:srgbClr val="FF0000"/>
                </a:solidFill>
                <a:latin typeface="Cambria"/>
                <a:cs typeface="Cambria"/>
              </a:rPr>
              <a:t>An</a:t>
            </a:r>
            <a:r>
              <a:rPr sz="2000" b="1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250" dirty="0">
                <a:solidFill>
                  <a:srgbClr val="FF0000"/>
                </a:solidFill>
                <a:latin typeface="Cambria"/>
                <a:cs typeface="Cambria"/>
              </a:rPr>
              <a:t>UGC</a:t>
            </a:r>
            <a:r>
              <a:rPr sz="2000" b="1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30" dirty="0">
                <a:solidFill>
                  <a:srgbClr val="FF0000"/>
                </a:solidFill>
                <a:latin typeface="Cambria"/>
                <a:cs typeface="Cambria"/>
              </a:rPr>
              <a:t>Autonomous</a:t>
            </a:r>
            <a:r>
              <a:rPr sz="2000" b="1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20" dirty="0">
                <a:solidFill>
                  <a:srgbClr val="FF0000"/>
                </a:solidFill>
                <a:latin typeface="Cambria"/>
                <a:cs typeface="Cambria"/>
              </a:rPr>
              <a:t>Institution</a:t>
            </a:r>
            <a:endParaRPr sz="2000" dirty="0">
              <a:latin typeface="Cambria"/>
              <a:cs typeface="Cambria"/>
            </a:endParaRPr>
          </a:p>
          <a:p>
            <a:pPr marL="1834514" marR="1086485" indent="-797560" algn="ctr">
              <a:lnSpc>
                <a:spcPct val="100899"/>
              </a:lnSpc>
              <a:spcBef>
                <a:spcPts val="35"/>
              </a:spcBef>
            </a:pPr>
            <a:r>
              <a:rPr sz="1800" b="1" i="1" spc="130" dirty="0">
                <a:latin typeface="Cambria"/>
                <a:cs typeface="Cambria"/>
              </a:rPr>
              <a:t>Approved</a:t>
            </a:r>
            <a:r>
              <a:rPr sz="1800" b="1" i="1" spc="190" dirty="0">
                <a:latin typeface="Cambria"/>
                <a:cs typeface="Cambria"/>
              </a:rPr>
              <a:t> </a:t>
            </a:r>
            <a:r>
              <a:rPr sz="1800" b="1" i="1" spc="135" dirty="0">
                <a:latin typeface="Cambria"/>
                <a:cs typeface="Cambria"/>
              </a:rPr>
              <a:t>by</a:t>
            </a:r>
            <a:r>
              <a:rPr sz="1800" b="1" i="1" spc="180" dirty="0">
                <a:latin typeface="Cambria"/>
                <a:cs typeface="Cambria"/>
              </a:rPr>
              <a:t> </a:t>
            </a:r>
            <a:r>
              <a:rPr sz="1800" b="1" i="1" spc="190" dirty="0">
                <a:latin typeface="Cambria"/>
                <a:cs typeface="Cambria"/>
              </a:rPr>
              <a:t>AICTE</a:t>
            </a:r>
            <a:r>
              <a:rPr sz="1800" b="1" i="1" spc="270" dirty="0">
                <a:latin typeface="Cambria"/>
                <a:cs typeface="Cambria"/>
              </a:rPr>
              <a:t> </a:t>
            </a:r>
            <a:r>
              <a:rPr sz="1800" b="1" i="1" spc="125" dirty="0">
                <a:latin typeface="Cambria"/>
                <a:cs typeface="Cambria"/>
              </a:rPr>
              <a:t>New</a:t>
            </a:r>
            <a:r>
              <a:rPr sz="1800" b="1" i="1" spc="240" dirty="0">
                <a:latin typeface="Cambria"/>
                <a:cs typeface="Cambria"/>
              </a:rPr>
              <a:t> </a:t>
            </a:r>
            <a:r>
              <a:rPr sz="1800" b="1" i="1" spc="150" dirty="0">
                <a:latin typeface="Cambria"/>
                <a:cs typeface="Cambria"/>
              </a:rPr>
              <a:t>Delhi</a:t>
            </a:r>
            <a:r>
              <a:rPr sz="1800" b="1" i="1" spc="200" dirty="0">
                <a:latin typeface="Cambria"/>
                <a:cs typeface="Cambria"/>
              </a:rPr>
              <a:t> </a:t>
            </a:r>
            <a:r>
              <a:rPr sz="1800" b="1" i="1" spc="190" dirty="0">
                <a:latin typeface="Cambria"/>
                <a:cs typeface="Cambria"/>
              </a:rPr>
              <a:t>and</a:t>
            </a:r>
            <a:r>
              <a:rPr sz="1800" b="1" i="1" spc="195" dirty="0">
                <a:latin typeface="Cambria"/>
                <a:cs typeface="Cambria"/>
              </a:rPr>
              <a:t> </a:t>
            </a:r>
            <a:r>
              <a:rPr sz="1800" b="1" i="1" spc="155" dirty="0">
                <a:latin typeface="Cambria"/>
                <a:cs typeface="Cambria"/>
              </a:rPr>
              <a:t>Affiliated</a:t>
            </a:r>
            <a:r>
              <a:rPr sz="1800" b="1" i="1" spc="265" dirty="0">
                <a:latin typeface="Cambria"/>
                <a:cs typeface="Cambria"/>
              </a:rPr>
              <a:t> </a:t>
            </a:r>
            <a:r>
              <a:rPr sz="1800" b="1" i="1" spc="90" dirty="0">
                <a:latin typeface="Cambria"/>
                <a:cs typeface="Cambria"/>
              </a:rPr>
              <a:t>to</a:t>
            </a:r>
            <a:r>
              <a:rPr sz="1800" b="1" i="1" spc="265" dirty="0">
                <a:latin typeface="Cambria"/>
                <a:cs typeface="Cambria"/>
              </a:rPr>
              <a:t> </a:t>
            </a:r>
            <a:r>
              <a:rPr sz="1800" b="1" i="1" spc="215" dirty="0">
                <a:latin typeface="Cambria"/>
                <a:cs typeface="Cambria"/>
              </a:rPr>
              <a:t>JNTU </a:t>
            </a:r>
            <a:r>
              <a:rPr sz="1800" b="1" i="1" spc="170" dirty="0">
                <a:latin typeface="Cambria"/>
                <a:cs typeface="Cambria"/>
              </a:rPr>
              <a:t>An</a:t>
            </a:r>
            <a:r>
              <a:rPr sz="1800" b="1" i="1" spc="265" dirty="0">
                <a:latin typeface="Cambria"/>
                <a:cs typeface="Cambria"/>
              </a:rPr>
              <a:t> </a:t>
            </a:r>
            <a:r>
              <a:rPr sz="1800" b="1" i="1" spc="185" dirty="0">
                <a:latin typeface="Cambria"/>
                <a:cs typeface="Cambria"/>
              </a:rPr>
              <a:t>ISO</a:t>
            </a:r>
            <a:r>
              <a:rPr sz="1800" b="1" i="1" spc="195" dirty="0">
                <a:latin typeface="Cambria"/>
                <a:cs typeface="Cambria"/>
              </a:rPr>
              <a:t> </a:t>
            </a:r>
            <a:r>
              <a:rPr sz="1800" b="1" i="1" spc="190" dirty="0">
                <a:latin typeface="Cambria"/>
                <a:cs typeface="Cambria"/>
              </a:rPr>
              <a:t>9001:</a:t>
            </a:r>
            <a:r>
              <a:rPr sz="1800" b="1" i="1" spc="200" dirty="0">
                <a:latin typeface="Cambria"/>
                <a:cs typeface="Cambria"/>
              </a:rPr>
              <a:t> </a:t>
            </a:r>
            <a:r>
              <a:rPr sz="1800" b="1" i="1" spc="190" dirty="0">
                <a:latin typeface="Cambria"/>
                <a:cs typeface="Cambria"/>
              </a:rPr>
              <a:t>2015 </a:t>
            </a:r>
            <a:r>
              <a:rPr sz="1800" b="1" i="1" spc="145" dirty="0">
                <a:latin typeface="Cambria"/>
                <a:cs typeface="Cambria"/>
              </a:rPr>
              <a:t>Certified</a:t>
            </a:r>
            <a:r>
              <a:rPr sz="1800" b="1" i="1" spc="265" dirty="0">
                <a:latin typeface="Cambria"/>
                <a:cs typeface="Cambria"/>
              </a:rPr>
              <a:t> </a:t>
            </a:r>
            <a:r>
              <a:rPr sz="1800" b="1" i="1" spc="120" dirty="0">
                <a:latin typeface="Cambria"/>
                <a:cs typeface="Cambria"/>
              </a:rPr>
              <a:t>Institution </a:t>
            </a:r>
            <a:r>
              <a:rPr sz="1800" b="1" i="1" spc="145" dirty="0">
                <a:solidFill>
                  <a:srgbClr val="006FC0"/>
                </a:solidFill>
                <a:latin typeface="Cambria"/>
                <a:cs typeface="Cambria"/>
              </a:rPr>
              <a:t>Accredited</a:t>
            </a:r>
            <a:r>
              <a:rPr sz="1800" b="1" i="1" spc="26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b="1" i="1" spc="95" dirty="0">
                <a:solidFill>
                  <a:srgbClr val="006FC0"/>
                </a:solidFill>
                <a:latin typeface="Cambria"/>
                <a:cs typeface="Cambria"/>
              </a:rPr>
              <a:t>by</a:t>
            </a:r>
            <a:r>
              <a:rPr sz="1800" b="1" i="1" spc="254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b="1" i="1" spc="160" dirty="0">
                <a:solidFill>
                  <a:srgbClr val="006FC0"/>
                </a:solidFill>
                <a:latin typeface="Cambria"/>
                <a:cs typeface="Cambria"/>
              </a:rPr>
              <a:t>NBA</a:t>
            </a:r>
            <a:r>
              <a:rPr sz="1800" b="1" i="1" spc="190" dirty="0">
                <a:solidFill>
                  <a:srgbClr val="006FC0"/>
                </a:solidFill>
                <a:latin typeface="Cambria"/>
                <a:cs typeface="Cambria"/>
              </a:rPr>
              <a:t> and</a:t>
            </a:r>
            <a:r>
              <a:rPr sz="1800" b="1" i="1" spc="2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b="1" i="1" spc="190" dirty="0">
                <a:solidFill>
                  <a:srgbClr val="006FC0"/>
                </a:solidFill>
                <a:latin typeface="Cambria"/>
                <a:cs typeface="Cambria"/>
              </a:rPr>
              <a:t>NAAC</a:t>
            </a:r>
            <a:r>
              <a:rPr sz="1800" b="1" i="1" spc="2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b="1" i="1" spc="170" dirty="0">
                <a:solidFill>
                  <a:srgbClr val="006FC0"/>
                </a:solidFill>
                <a:latin typeface="Cambria"/>
                <a:cs typeface="Cambria"/>
              </a:rPr>
              <a:t>‘A’</a:t>
            </a:r>
            <a:r>
              <a:rPr sz="1800" b="1" i="1" spc="2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1800" b="1" i="1" spc="150" dirty="0">
                <a:solidFill>
                  <a:srgbClr val="006FC0"/>
                </a:solidFill>
                <a:latin typeface="Cambria"/>
                <a:cs typeface="Cambria"/>
              </a:rPr>
              <a:t>Grade</a:t>
            </a:r>
            <a:endParaRPr sz="1800" dirty="0">
              <a:latin typeface="Cambria"/>
              <a:cs typeface="Cambria"/>
            </a:endParaRPr>
          </a:p>
          <a:p>
            <a:pPr marL="645795" algn="ctr">
              <a:lnSpc>
                <a:spcPts val="2035"/>
              </a:lnSpc>
            </a:pPr>
            <a:r>
              <a:rPr sz="1800" b="1" i="1" spc="160" dirty="0">
                <a:latin typeface="Cambria"/>
                <a:cs typeface="Cambria"/>
              </a:rPr>
              <a:t>Maisammaguda,</a:t>
            </a:r>
            <a:r>
              <a:rPr sz="1800" b="1" i="1" spc="285" dirty="0">
                <a:latin typeface="Cambria"/>
                <a:cs typeface="Cambria"/>
              </a:rPr>
              <a:t> </a:t>
            </a:r>
            <a:r>
              <a:rPr sz="1800" b="1" i="1" spc="155" dirty="0">
                <a:latin typeface="Cambria"/>
                <a:cs typeface="Cambria"/>
              </a:rPr>
              <a:t>Medchal</a:t>
            </a:r>
            <a:r>
              <a:rPr sz="1800" b="1" i="1" spc="300" dirty="0">
                <a:latin typeface="Cambria"/>
                <a:cs typeface="Cambria"/>
              </a:rPr>
              <a:t> </a:t>
            </a:r>
            <a:r>
              <a:rPr sz="1800" b="1" i="1" dirty="0">
                <a:latin typeface="Cambria"/>
                <a:cs typeface="Cambria"/>
              </a:rPr>
              <a:t>(Dist),</a:t>
            </a:r>
            <a:r>
              <a:rPr sz="1800" b="1" i="1" spc="340" dirty="0">
                <a:latin typeface="Cambria"/>
                <a:cs typeface="Cambria"/>
              </a:rPr>
              <a:t> </a:t>
            </a:r>
            <a:r>
              <a:rPr sz="1800" b="1" i="1" spc="145" dirty="0">
                <a:latin typeface="Cambria"/>
                <a:cs typeface="Cambria"/>
              </a:rPr>
              <a:t>Hyderabad</a:t>
            </a:r>
            <a:r>
              <a:rPr sz="1800" b="1" i="1" spc="265" dirty="0">
                <a:latin typeface="Cambria"/>
                <a:cs typeface="Cambria"/>
              </a:rPr>
              <a:t> </a:t>
            </a:r>
            <a:r>
              <a:rPr sz="1800" b="1" i="1" spc="-100" dirty="0">
                <a:latin typeface="Cambria"/>
                <a:cs typeface="Cambria"/>
              </a:rPr>
              <a:t>-</a:t>
            </a:r>
            <a:r>
              <a:rPr sz="1800" b="1" i="1" spc="195" dirty="0">
                <a:latin typeface="Cambria"/>
                <a:cs typeface="Cambria"/>
              </a:rPr>
              <a:t>500100,</a:t>
            </a:r>
            <a:r>
              <a:rPr sz="1800" b="1" i="1" spc="265" dirty="0">
                <a:latin typeface="Cambria"/>
                <a:cs typeface="Cambria"/>
              </a:rPr>
              <a:t> </a:t>
            </a:r>
            <a:r>
              <a:rPr sz="1800" b="1" i="1" spc="155" dirty="0">
                <a:latin typeface="Cambria"/>
                <a:cs typeface="Cambria"/>
              </a:rPr>
              <a:t>Telangana.</a:t>
            </a:r>
            <a:endParaRPr sz="1800" dirty="0">
              <a:latin typeface="Cambria"/>
              <a:cs typeface="Cambria"/>
            </a:endParaRPr>
          </a:p>
          <a:p>
            <a:pPr marL="20955" algn="ctr">
              <a:lnSpc>
                <a:spcPts val="2095"/>
              </a:lnSpc>
              <a:tabLst>
                <a:tab pos="3792220" algn="l"/>
              </a:tabLst>
            </a:pPr>
            <a:r>
              <a:rPr sz="1800" b="1" i="1" spc="185" dirty="0">
                <a:latin typeface="Cambria"/>
                <a:cs typeface="Cambria"/>
              </a:rPr>
              <a:t>Email</a:t>
            </a:r>
            <a:r>
              <a:rPr sz="1800" b="1" i="1" spc="200" dirty="0">
                <a:latin typeface="Cambria"/>
                <a:cs typeface="Cambria"/>
              </a:rPr>
              <a:t> </a:t>
            </a:r>
            <a:r>
              <a:rPr sz="1800" b="1" i="1" spc="120" dirty="0">
                <a:latin typeface="Cambria"/>
                <a:cs typeface="Cambria"/>
              </a:rPr>
              <a:t>:</a:t>
            </a:r>
            <a:r>
              <a:rPr sz="1800" b="1" i="1" spc="270" dirty="0">
                <a:latin typeface="Cambria"/>
                <a:cs typeface="Cambria"/>
              </a:rPr>
              <a:t> </a:t>
            </a:r>
            <a:r>
              <a:rPr sz="1800" b="1" i="1" spc="120" dirty="0">
                <a:latin typeface="Cambria"/>
                <a:cs typeface="Cambria"/>
                <a:hlinkClick r:id="rId3"/>
              </a:rPr>
              <a:t>mrits.s1@gmail.com,</a:t>
            </a:r>
            <a:r>
              <a:rPr sz="1800" b="1" i="1" dirty="0">
                <a:latin typeface="Cambria"/>
                <a:cs typeface="Cambria"/>
              </a:rPr>
              <a:t>	</a:t>
            </a:r>
            <a:r>
              <a:rPr sz="1800" b="1" i="1" spc="145" dirty="0">
                <a:latin typeface="Cambria"/>
                <a:cs typeface="Cambria"/>
                <a:hlinkClick r:id="rId4"/>
              </a:rPr>
              <a:t>www.mrits.ac.in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800" dirty="0">
              <a:latin typeface="Cambria"/>
              <a:cs typeface="Cambria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2A0E40EB-5057-4259-A90F-338834361A9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8925" y="828675"/>
            <a:ext cx="13716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30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1B588-C8A7-411C-8158-4094E7E0F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8D6D63-ADCF-46B9-A735-6DD6FE3C1125}"/>
              </a:ext>
            </a:extLst>
          </p:cNvPr>
          <p:cNvSpPr txBox="1"/>
          <p:nvPr/>
        </p:nvSpPr>
        <p:spPr>
          <a:xfrm>
            <a:off x="125506" y="242046"/>
            <a:ext cx="11940988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Arial Black" panose="020B0A04020102020204" pitchFamily="34" charset="0"/>
                <a:cs typeface="Bookman Old Style" panose="02050604050505020204" pitchFamily="18" charset="0"/>
              </a:rPr>
              <a:t>Deep Learning Applications In Medical Image Analysis</a:t>
            </a:r>
            <a:endParaRPr lang="en-IN" sz="3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ECB8C-B72D-4467-9C01-E5EB79A71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0382" y="513080"/>
            <a:ext cx="2479040" cy="2479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A79623-8C2A-42FA-A6A3-495BD9E47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494" y="5689600"/>
            <a:ext cx="5827776" cy="4553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927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F82733-BCB4-488D-881B-7F83A716B216}"/>
              </a:ext>
            </a:extLst>
          </p:cNvPr>
          <p:cNvSpPr txBox="1"/>
          <p:nvPr/>
        </p:nvSpPr>
        <p:spPr>
          <a:xfrm>
            <a:off x="733892" y="262274"/>
            <a:ext cx="2249273" cy="6739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Agenda</a:t>
            </a:r>
            <a:endParaRPr lang="en-US" sz="3600" dirty="0">
              <a:latin typeface="Arial"/>
              <a:ea typeface="+mj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23568-EF86-4704-BE15-4DB4443A7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224" y="2304635"/>
            <a:ext cx="5827776" cy="4553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6753D0-8260-4B80-BBAB-26CAABF993C3}"/>
              </a:ext>
            </a:extLst>
          </p:cNvPr>
          <p:cNvSpPr txBox="1"/>
          <p:nvPr/>
        </p:nvSpPr>
        <p:spPr>
          <a:xfrm>
            <a:off x="987332" y="1025268"/>
            <a:ext cx="6540495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ABSTRACT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EXISTING METHOD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PROPOSED METHOD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FLOW CHART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HARDWARE AND SOFTWARE REQUIREMENTS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APPLICATIONS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CONCLUSION</a:t>
            </a:r>
            <a:endParaRPr lang="en-US" sz="2000" dirty="0">
              <a:solidFill>
                <a:srgbClr val="0D0D0D"/>
              </a:solidFill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AE0548-3564-42F2-B370-A574B3A72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27" y="2692400"/>
            <a:ext cx="2479040" cy="2479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B5015A-15F9-4CA5-8423-80695C2F0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690802" y="4280647"/>
            <a:ext cx="2398188" cy="4026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CBEF60-6C25-4BB1-925B-1F6E868F86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" b="97010" l="3376" r="99789">
                        <a14:foregroundMark x1="5485" y1="2990" x2="32278" y2="35216"/>
                        <a14:foregroundMark x1="32278" y1="35216" x2="67722" y2="50831"/>
                        <a14:foregroundMark x1="67722" y1="50831" x2="98523" y2="85714"/>
                        <a14:foregroundMark x1="3797" y1="6645" x2="8228" y2="14950"/>
                        <a14:foregroundMark x1="6751" y1="2990" x2="12658" y2="997"/>
                        <a14:foregroundMark x1="96414" y1="88704" x2="99789" y2="970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5599" y="-1864632"/>
            <a:ext cx="3705477" cy="2353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5323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37BD3-9511-401A-9200-E477D4A87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" b="97010" l="3376" r="99789">
                        <a14:foregroundMark x1="5485" y1="2990" x2="32278" y2="35216"/>
                        <a14:foregroundMark x1="32278" y1="35216" x2="67722" y2="50831"/>
                        <a14:foregroundMark x1="67722" y1="50831" x2="98523" y2="85714"/>
                        <a14:foregroundMark x1="3797" y1="6645" x2="8228" y2="14950"/>
                        <a14:foregroundMark x1="6751" y1="2990" x2="12658" y2="997"/>
                        <a14:foregroundMark x1="96414" y1="88704" x2="99789" y2="970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522" y="1"/>
            <a:ext cx="3705477" cy="2353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A52CA9-1993-4C2A-AEB6-BAB57B125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81709" y="2944216"/>
            <a:ext cx="2398188" cy="4026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A3428-5143-4366-86C7-75B98CBCB8E0}"/>
              </a:ext>
            </a:extLst>
          </p:cNvPr>
          <p:cNvSpPr txBox="1"/>
          <p:nvPr/>
        </p:nvSpPr>
        <p:spPr>
          <a:xfrm>
            <a:off x="4413470" y="688192"/>
            <a:ext cx="3365059" cy="60589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dirty="0">
                <a:solidFill>
                  <a:srgbClr val="0D0D0D"/>
                </a:solidFill>
                <a:latin typeface="Arial"/>
                <a:ea typeface="+mj-ea"/>
                <a:cs typeface="Arial"/>
              </a:rPr>
              <a:t>Abstract </a:t>
            </a:r>
            <a:endParaRPr lang="en-US" sz="3300" b="1" dirty="0"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C41B3-2319-474B-8C98-7E0E711044A5}"/>
              </a:ext>
            </a:extLst>
          </p:cNvPr>
          <p:cNvSpPr txBox="1"/>
          <p:nvPr/>
        </p:nvSpPr>
        <p:spPr>
          <a:xfrm>
            <a:off x="829014" y="1813173"/>
            <a:ext cx="1053397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The project focuses on detecting neurological disorders in the brain using unsupervised machine learning and CNN methods, aiming for high accuracy in diagnosis.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D0D0D"/>
              </a:solidFill>
              <a:latin typeface="Arial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Early detection of brain diseases like brain tumors and epilepsy is crucial for effective treatment, highlighting the importance of advanced diagnostic techniques.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D0D0D"/>
              </a:solidFill>
              <a:latin typeface="Arial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The study reviews recent machine learning approaches specifically tailored for identifying these brain diseases, emphasizing their potential in medical diagnostics.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D0D0D"/>
              </a:solidFill>
              <a:latin typeface="Arial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The integration of unsupervised machine learning and CNN in this project demonstrates a promising advancement in the field of neurology, offering improved methods for early disease detection.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ADD28-0119-443F-9303-8E61471A6C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ADBAD-6439-4EB9-A4B7-F96A1EBA08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9819" y="4435019"/>
            <a:ext cx="2633472" cy="4134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3608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61024-CCB3-4E36-A983-75D388819ADD}"/>
              </a:ext>
            </a:extLst>
          </p:cNvPr>
          <p:cNvSpPr txBox="1"/>
          <p:nvPr/>
        </p:nvSpPr>
        <p:spPr>
          <a:xfrm>
            <a:off x="4033535" y="371229"/>
            <a:ext cx="4124930" cy="6596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</a:t>
            </a:r>
            <a:endParaRPr lang="en-US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BD74CA-9CA6-4B9F-820F-28C9A0CC5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3449"/>
            <a:ext cx="2633472" cy="4134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4C701B-2AC1-4BDD-A6A3-53F080D6EE37}"/>
              </a:ext>
            </a:extLst>
          </p:cNvPr>
          <p:cNvSpPr txBox="1"/>
          <p:nvPr/>
        </p:nvSpPr>
        <p:spPr>
          <a:xfrm>
            <a:off x="1137920" y="1960939"/>
            <a:ext cx="102717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Machine learning algorithms are revolutionizing medicine, from drug discovery to clinical decision-making, as they can analyze vast amounts of digitalized medical data, including electronic health records (EHRs) and medical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increasing prevalence of EHRs, which include medical images, presents a significant opportunity for machine learning to enhance diagnostic accuracy and efficiency, potentially overcoming limitations faced by human errors.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Machine learning in medical image analysis improves patient outcomes and helps understand how patients interact with AI-driven healthcare decisions.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21BB0-53E3-4AC2-AD97-79F0182A5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FF7152-35BF-4F19-98F1-EAB6F36286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73" l="100" r="95300">
                        <a14:foregroundMark x1="1500" y1="3177" x2="20200" y2="35705"/>
                        <a14:foregroundMark x1="20200" y1="35705" x2="49400" y2="55909"/>
                        <a14:foregroundMark x1="49400" y1="55909" x2="64600" y2="60864"/>
                        <a14:foregroundMark x1="64600" y1="60864" x2="77700" y2="78526"/>
                        <a14:foregroundMark x1="77700" y1="78526" x2="85500" y2="79288"/>
                        <a14:foregroundMark x1="85500" y1="79288" x2="88300" y2="93393"/>
                        <a14:foregroundMark x1="88300" y1="93393" x2="85500" y2="99746"/>
                        <a14:foregroundMark x1="85500" y1="99746" x2="85100" y2="99873"/>
                        <a14:foregroundMark x1="91400" y1="74460" x2="94200" y2="83355"/>
                        <a14:foregroundMark x1="94200" y1="83355" x2="91400" y2="94917"/>
                        <a14:foregroundMark x1="91400" y1="94917" x2="91400" y2="94917"/>
                        <a14:foregroundMark x1="95300" y1="79161" x2="95300" y2="84752"/>
                        <a14:foregroundMark x1="2000" y1="4066" x2="3700" y2="90089"/>
                        <a14:foregroundMark x1="3700" y1="90089" x2="5100" y2="92630"/>
                        <a14:foregroundMark x1="7700" y1="11182" x2="800" y2="2795"/>
                        <a14:foregroundMark x1="9600" y1="6607" x2="2700" y2="1017"/>
                        <a14:foregroundMark x1="1300" y1="1271" x2="2300" y2="1652"/>
                        <a14:foregroundMark x1="2300" y1="1271" x2="800" y2="127"/>
                        <a14:foregroundMark x1="2200" y1="889" x2="800" y2="127"/>
                        <a14:foregroundMark x1="1200" y1="3685" x2="100" y2="13723"/>
                        <a14:foregroundMark x1="100" y1="13723" x2="100" y2="13723"/>
                        <a14:foregroundMark x1="15600" y1="78018" x2="39800" y2="83355"/>
                        <a14:foregroundMark x1="39800" y1="83355" x2="50000" y2="82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49708" y="-2194085"/>
            <a:ext cx="3733800" cy="2938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3FD270-BFE3-44F6-8058-7D5870671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32" b="95349" l="844" r="99578">
                        <a14:foregroundMark x1="39662" y1="14950" x2="39662" y2="14950"/>
                        <a14:foregroundMark x1="6329" y1="4983" x2="78481" y2="60133"/>
                        <a14:foregroundMark x1="78481" y1="60133" x2="97890" y2="87708"/>
                        <a14:foregroundMark x1="844" y1="664" x2="50000" y2="35548"/>
                        <a14:foregroundMark x1="97890" y1="91362" x2="99578" y2="95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92570" y="4855187"/>
            <a:ext cx="4514850" cy="2867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8072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3AE791-FCE6-4CB8-B5A7-229BA2186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B9B1C7-53A8-40CC-A99B-3A8FAE6C2DF9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32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Existing Method</a:t>
            </a:r>
            <a:endParaRPr lang="en-US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9C050-F501-424E-95F9-77B10A08E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2" b="95349" l="844" r="99578">
                        <a14:foregroundMark x1="39662" y1="14950" x2="39662" y2="14950"/>
                        <a14:foregroundMark x1="6329" y1="4983" x2="78481" y2="60133"/>
                        <a14:foregroundMark x1="78481" y1="60133" x2="97890" y2="87708"/>
                        <a14:foregroundMark x1="844" y1="664" x2="50000" y2="35548"/>
                        <a14:foregroundMark x1="97890" y1="91362" x2="99578" y2="95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501062" y="3167063"/>
            <a:ext cx="4514850" cy="2867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45FE6-5F06-457D-AC00-E0D2A7DE6B8F}"/>
              </a:ext>
            </a:extLst>
          </p:cNvPr>
          <p:cNvSpPr txBox="1"/>
          <p:nvPr/>
        </p:nvSpPr>
        <p:spPr>
          <a:xfrm>
            <a:off x="1513840" y="1381760"/>
            <a:ext cx="859536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MRI images often have noise and interference, making it hard for doctors to detect tumors early.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Detecting tumors early is not only difficult, but also takes many days manually.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These challenges cause problems in the medical field.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7A3AE6-20FD-4F04-9E74-3BCFFB7755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873" l="100" r="95300">
                        <a14:foregroundMark x1="1500" y1="3177" x2="20200" y2="35705"/>
                        <a14:foregroundMark x1="20200" y1="35705" x2="49400" y2="55909"/>
                        <a14:foregroundMark x1="49400" y1="55909" x2="64600" y2="60864"/>
                        <a14:foregroundMark x1="64600" y1="60864" x2="77700" y2="78526"/>
                        <a14:foregroundMark x1="77700" y1="78526" x2="85500" y2="79288"/>
                        <a14:foregroundMark x1="85500" y1="79288" x2="88300" y2="93393"/>
                        <a14:foregroundMark x1="88300" y1="93393" x2="85500" y2="99746"/>
                        <a14:foregroundMark x1="85500" y1="99746" x2="85100" y2="99873"/>
                        <a14:foregroundMark x1="91400" y1="74460" x2="94200" y2="83355"/>
                        <a14:foregroundMark x1="94200" y1="83355" x2="91400" y2="94917"/>
                        <a14:foregroundMark x1="91400" y1="94917" x2="91400" y2="94917"/>
                        <a14:foregroundMark x1="95300" y1="79161" x2="95300" y2="84752"/>
                        <a14:foregroundMark x1="2000" y1="4066" x2="3700" y2="90089"/>
                        <a14:foregroundMark x1="3700" y1="90089" x2="5100" y2="92630"/>
                        <a14:foregroundMark x1="7700" y1="11182" x2="800" y2="2795"/>
                        <a14:foregroundMark x1="9600" y1="6607" x2="2700" y2="1017"/>
                        <a14:foregroundMark x1="1300" y1="1271" x2="2300" y2="1652"/>
                        <a14:foregroundMark x1="2300" y1="1271" x2="800" y2="127"/>
                        <a14:foregroundMark x1="2200" y1="889" x2="800" y2="127"/>
                        <a14:foregroundMark x1="1200" y1="3685" x2="100" y2="13723"/>
                        <a14:foregroundMark x1="100" y1="13723" x2="100" y2="13723"/>
                        <a14:foregroundMark x1="15600" y1="78018" x2="39800" y2="83355"/>
                        <a14:foregroundMark x1="39800" y1="83355" x2="50000" y2="82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458200" y="-1"/>
            <a:ext cx="3733800" cy="2938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AD8F0E-C95A-46A2-B2A2-DD97DF81A9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911961" y="-1641766"/>
            <a:ext cx="2996825" cy="22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3A5F67-C07A-4B7A-B385-94A920B3ED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3472" y="4652207"/>
            <a:ext cx="2633472" cy="4134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89B162-C25B-4430-9ECA-39B452C7D787}"/>
              </a:ext>
            </a:extLst>
          </p:cNvPr>
          <p:cNvSpPr/>
          <p:nvPr/>
        </p:nvSpPr>
        <p:spPr>
          <a:xfrm>
            <a:off x="924560" y="4376471"/>
            <a:ext cx="5811520" cy="2288584"/>
          </a:xfrm>
          <a:prstGeom prst="roundRect">
            <a:avLst/>
          </a:prstGeom>
          <a:solidFill>
            <a:srgbClr val="8FBC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9E0AC-CD84-4243-8F38-A38576801F1F}"/>
              </a:ext>
            </a:extLst>
          </p:cNvPr>
          <p:cNvSpPr txBox="1"/>
          <p:nvPr/>
        </p:nvSpPr>
        <p:spPr>
          <a:xfrm>
            <a:off x="1290319" y="4442302"/>
            <a:ext cx="2040255" cy="41980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3A069-22F4-4484-84AC-310016A16808}"/>
              </a:ext>
            </a:extLst>
          </p:cNvPr>
          <p:cNvSpPr txBox="1"/>
          <p:nvPr/>
        </p:nvSpPr>
        <p:spPr>
          <a:xfrm>
            <a:off x="1290319" y="4882638"/>
            <a:ext cx="55646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Detecting tumors manually from noisy MRI images takes a lot of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 detection of tumors is difficult because of poor image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issues lead to delays and errors in diagnosis.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956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8B5AA-347E-49E0-B38A-CC14B0E23896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Proposed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D7D14-53C4-491F-8FC7-0D6936C3C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9965"/>
            <a:ext cx="2633472" cy="4134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5A613C-9321-4F4B-9685-14FDAF9C7CF5}"/>
              </a:ext>
            </a:extLst>
          </p:cNvPr>
          <p:cNvSpPr txBox="1"/>
          <p:nvPr/>
        </p:nvSpPr>
        <p:spPr>
          <a:xfrm>
            <a:off x="1316736" y="1320928"/>
            <a:ext cx="10533970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Input and Preprocessing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Uses X-ray/CT scan images of brain tumors and healthy brains, resized to 256 × 256 pixels.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Converts images to arrays and applies preprocessing.</a:t>
            </a:r>
          </a:p>
          <a:p>
            <a:pPr lvl="1" algn="l"/>
            <a:endParaRPr lang="en-US" b="0" i="0" dirty="0"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Data Splitting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Divides data into 70% training, 20% validation, and 10% testing sets for balanced model training and evaluation.</a:t>
            </a:r>
          </a:p>
          <a:p>
            <a:pPr lvl="1" algn="l"/>
            <a:endParaRPr lang="en-US" b="0" i="0" dirty="0"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Model Training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Trains a machine learning model using the preprocessed images to distinguish between brain tumors and healthy brain images.</a:t>
            </a:r>
          </a:p>
          <a:p>
            <a:pPr lvl="1" algn="l"/>
            <a:endParaRPr lang="en-US" b="0" i="0" dirty="0">
              <a:effectLst/>
              <a:latin typeface="Inter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Evaluation and Testing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Validates the model's performance using the validation set.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Tests the final model on the testing set to assess its accuracy and reliability in detecting brain tumors.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84746-E298-4F5A-A545-0185678BD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69778" y="374603"/>
            <a:ext cx="2996825" cy="22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26BD1D-84A5-446B-A26D-150DDE6E4F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283778" y="-1883664"/>
            <a:ext cx="3767328" cy="3767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6B8D78-F98A-4A35-824C-02F75B464E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042739" y="6153020"/>
            <a:ext cx="1384371" cy="2324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7050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8B5AA-347E-49E0-B38A-CC14B0E23896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Flow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75409D-9C93-48AD-8D49-E473B4DBB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424672" y="0"/>
            <a:ext cx="3767328" cy="3767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EDAA92-F9CB-4906-BEB9-2D8C526A6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48081" y="4632138"/>
            <a:ext cx="1384371" cy="2324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5053A29-D6D9-402D-B5ED-730A210066E4}"/>
              </a:ext>
            </a:extLst>
          </p:cNvPr>
          <p:cNvSpPr/>
          <p:nvPr/>
        </p:nvSpPr>
        <p:spPr>
          <a:xfrm>
            <a:off x="1973880" y="1812436"/>
            <a:ext cx="2088361" cy="977415"/>
          </a:xfrm>
          <a:prstGeom prst="roundRect">
            <a:avLst>
              <a:gd name="adj" fmla="val 1849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X-ray Image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50CF1C3-9DAB-44A2-A9F3-314FED0D9F6E}"/>
              </a:ext>
            </a:extLst>
          </p:cNvPr>
          <p:cNvSpPr/>
          <p:nvPr/>
        </p:nvSpPr>
        <p:spPr>
          <a:xfrm>
            <a:off x="4727528" y="1812437"/>
            <a:ext cx="2088361" cy="977415"/>
          </a:xfrm>
          <a:prstGeom prst="roundRect">
            <a:avLst>
              <a:gd name="adj" fmla="val 184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Preprocessing</a:t>
            </a:r>
            <a:endPara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FA49046-1349-49EF-9279-D2AF1597F30E}"/>
              </a:ext>
            </a:extLst>
          </p:cNvPr>
          <p:cNvSpPr/>
          <p:nvPr/>
        </p:nvSpPr>
        <p:spPr>
          <a:xfrm>
            <a:off x="7588623" y="1812437"/>
            <a:ext cx="2088361" cy="977415"/>
          </a:xfrm>
          <a:prstGeom prst="roundRect">
            <a:avLst>
              <a:gd name="adj" fmla="val 184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Feature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 Extraction</a:t>
            </a:r>
            <a:endPara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C27A69-5272-46BB-A037-A24E9434E020}"/>
              </a:ext>
            </a:extLst>
          </p:cNvPr>
          <p:cNvSpPr/>
          <p:nvPr/>
        </p:nvSpPr>
        <p:spPr>
          <a:xfrm>
            <a:off x="7588623" y="4013200"/>
            <a:ext cx="2088361" cy="977415"/>
          </a:xfrm>
          <a:prstGeom prst="roundRect">
            <a:avLst>
              <a:gd name="adj" fmla="val 184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Trained CNN Brain Tumor Detection Model</a:t>
            </a:r>
            <a:endPara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910600B-BD8C-4FF2-B120-CD0648A69C23}"/>
              </a:ext>
            </a:extLst>
          </p:cNvPr>
          <p:cNvSpPr/>
          <p:nvPr/>
        </p:nvSpPr>
        <p:spPr>
          <a:xfrm>
            <a:off x="4727527" y="4013200"/>
            <a:ext cx="2088361" cy="977415"/>
          </a:xfrm>
          <a:prstGeom prst="roundRect">
            <a:avLst>
              <a:gd name="adj" fmla="val 184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Brain Tumor Segmentation</a:t>
            </a:r>
            <a:endPara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1BA3C38-D838-4BEF-BEBE-5DFDADD98A92}"/>
              </a:ext>
            </a:extLst>
          </p:cNvPr>
          <p:cNvSpPr/>
          <p:nvPr/>
        </p:nvSpPr>
        <p:spPr>
          <a:xfrm>
            <a:off x="1973879" y="4013200"/>
            <a:ext cx="2088361" cy="977415"/>
          </a:xfrm>
          <a:prstGeom prst="roundRect">
            <a:avLst>
              <a:gd name="adj" fmla="val 184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Brain Tumor Classification</a:t>
            </a:r>
            <a:endPara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C74096-C097-49E3-921D-5B77ED938E84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4062241" y="2301144"/>
            <a:ext cx="665287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912529-FD52-43E7-B349-CF3248170DDA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6815889" y="2301145"/>
            <a:ext cx="77273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FC147E-8E8A-40C3-958B-E2345B503E1F}"/>
              </a:ext>
            </a:extLst>
          </p:cNvPr>
          <p:cNvCxnSpPr>
            <a:stCxn id="26" idx="2"/>
            <a:endCxn id="29" idx="0"/>
          </p:cNvCxnSpPr>
          <p:nvPr/>
        </p:nvCxnSpPr>
        <p:spPr>
          <a:xfrm>
            <a:off x="8632804" y="2789852"/>
            <a:ext cx="0" cy="12233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4B769C8-A446-4D40-851F-59FF9F10ED12}"/>
              </a:ext>
            </a:extLst>
          </p:cNvPr>
          <p:cNvCxnSpPr>
            <a:stCxn id="29" idx="1"/>
            <a:endCxn id="30" idx="3"/>
          </p:cNvCxnSpPr>
          <p:nvPr/>
        </p:nvCxnSpPr>
        <p:spPr>
          <a:xfrm flipH="1">
            <a:off x="6815888" y="4501908"/>
            <a:ext cx="77273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53F431F-2994-44AD-B1B6-4B477852D150}"/>
              </a:ext>
            </a:extLst>
          </p:cNvPr>
          <p:cNvCxnSpPr>
            <a:stCxn id="30" idx="1"/>
            <a:endCxn id="33" idx="3"/>
          </p:cNvCxnSpPr>
          <p:nvPr/>
        </p:nvCxnSpPr>
        <p:spPr>
          <a:xfrm flipH="1">
            <a:off x="4062240" y="4501908"/>
            <a:ext cx="66528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0E890527-CAC7-44A6-BBE5-56187FA36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5" y="1464007"/>
            <a:ext cx="1021161" cy="12367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2F9805-B9C0-40D4-B41E-C94433E7BD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876663" y="5180502"/>
            <a:ext cx="2679997" cy="3354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D27C7A-C07E-4F42-ABCF-0636AC4262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240389" y="4725898"/>
            <a:ext cx="2844800" cy="1419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AE4F89-6B9E-420E-833C-9F4C788EE599}"/>
              </a:ext>
            </a:extLst>
          </p:cNvPr>
          <p:cNvCxnSpPr>
            <a:cxnSpLocks/>
          </p:cNvCxnSpPr>
          <p:nvPr/>
        </p:nvCxnSpPr>
        <p:spPr>
          <a:xfrm flipH="1">
            <a:off x="4831080" y="2789851"/>
            <a:ext cx="15240" cy="741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A91D60-AB8F-4993-9FE4-EACF56D27A75}"/>
              </a:ext>
            </a:extLst>
          </p:cNvPr>
          <p:cNvCxnSpPr>
            <a:cxnSpLocks/>
          </p:cNvCxnSpPr>
          <p:nvPr/>
        </p:nvCxnSpPr>
        <p:spPr>
          <a:xfrm>
            <a:off x="7731760" y="1093131"/>
            <a:ext cx="0" cy="71930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5C637C-815B-46EF-B2D6-E87997DA9431}"/>
              </a:ext>
            </a:extLst>
          </p:cNvPr>
          <p:cNvCxnSpPr>
            <a:cxnSpLocks/>
          </p:cNvCxnSpPr>
          <p:nvPr/>
        </p:nvCxnSpPr>
        <p:spPr>
          <a:xfrm>
            <a:off x="4846320" y="3043851"/>
            <a:ext cx="3149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15C5A42-C18A-4E3F-ABA4-4C7FCEBDCE0C}"/>
              </a:ext>
            </a:extLst>
          </p:cNvPr>
          <p:cNvCxnSpPr>
            <a:cxnSpLocks/>
          </p:cNvCxnSpPr>
          <p:nvPr/>
        </p:nvCxnSpPr>
        <p:spPr>
          <a:xfrm>
            <a:off x="4831080" y="3531531"/>
            <a:ext cx="3149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BF6DA6-3699-4979-AD9F-8616C76CC106}"/>
              </a:ext>
            </a:extLst>
          </p:cNvPr>
          <p:cNvSpPr txBox="1"/>
          <p:nvPr/>
        </p:nvSpPr>
        <p:spPr>
          <a:xfrm>
            <a:off x="5161280" y="2869556"/>
            <a:ext cx="186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Noise Reduction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0BB5E-8E79-45B8-8FB1-F72FFD3973B6}"/>
              </a:ext>
            </a:extLst>
          </p:cNvPr>
          <p:cNvSpPr txBox="1"/>
          <p:nvPr/>
        </p:nvSpPr>
        <p:spPr>
          <a:xfrm>
            <a:off x="5161280" y="3346865"/>
            <a:ext cx="186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Resizing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024F053-A513-406C-A075-4CFE637767A3}"/>
              </a:ext>
            </a:extLst>
          </p:cNvPr>
          <p:cNvCxnSpPr>
            <a:cxnSpLocks/>
          </p:cNvCxnSpPr>
          <p:nvPr/>
        </p:nvCxnSpPr>
        <p:spPr>
          <a:xfrm>
            <a:off x="7731760" y="1093131"/>
            <a:ext cx="3149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D271C0B-DE7A-4DF9-B2A9-960944585136}"/>
              </a:ext>
            </a:extLst>
          </p:cNvPr>
          <p:cNvCxnSpPr>
            <a:cxnSpLocks/>
          </p:cNvCxnSpPr>
          <p:nvPr/>
        </p:nvCxnSpPr>
        <p:spPr>
          <a:xfrm>
            <a:off x="7747000" y="1464007"/>
            <a:ext cx="3149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0C76795-849A-46ED-BDD0-F95B200776D1}"/>
              </a:ext>
            </a:extLst>
          </p:cNvPr>
          <p:cNvSpPr txBox="1"/>
          <p:nvPr/>
        </p:nvSpPr>
        <p:spPr>
          <a:xfrm>
            <a:off x="8084593" y="908179"/>
            <a:ext cx="186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Edge Detection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608198-9D3A-43EB-AA8C-9E485AA39D3D}"/>
              </a:ext>
            </a:extLst>
          </p:cNvPr>
          <p:cNvSpPr txBox="1"/>
          <p:nvPr/>
        </p:nvSpPr>
        <p:spPr>
          <a:xfrm>
            <a:off x="8107843" y="1296385"/>
            <a:ext cx="1869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Shape Analysis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8EE2DA4-90C1-439E-94D2-EB70B0855B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5" y="3896928"/>
            <a:ext cx="1021161" cy="1236739"/>
          </a:xfrm>
          <a:prstGeom prst="rect">
            <a:avLst/>
          </a:prstGeom>
        </p:spPr>
      </p:pic>
      <p:sp>
        <p:nvSpPr>
          <p:cNvPr id="48" name="Circle: Hollow 47">
            <a:extLst>
              <a:ext uri="{FF2B5EF4-FFF2-40B4-BE49-F238E27FC236}">
                <a16:creationId xmlns:a16="http://schemas.microsoft.com/office/drawing/2014/main" id="{AB4E5633-62A0-4293-A4E4-DDC5F20046F2}"/>
              </a:ext>
            </a:extLst>
          </p:cNvPr>
          <p:cNvSpPr/>
          <p:nvPr/>
        </p:nvSpPr>
        <p:spPr>
          <a:xfrm>
            <a:off x="738352" y="4222095"/>
            <a:ext cx="510579" cy="559623"/>
          </a:xfrm>
          <a:prstGeom prst="donut">
            <a:avLst>
              <a:gd name="adj" fmla="val 575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1207EBC-1A0F-4E1E-ADB2-FCD6BC623F2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60" y="5133667"/>
            <a:ext cx="1021161" cy="1236739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68172DE-0234-4074-8315-DD060E8F6E45}"/>
              </a:ext>
            </a:extLst>
          </p:cNvPr>
          <p:cNvCxnSpPr>
            <a:cxnSpLocks/>
          </p:cNvCxnSpPr>
          <p:nvPr/>
        </p:nvCxnSpPr>
        <p:spPr>
          <a:xfrm flipH="1">
            <a:off x="5003800" y="4990615"/>
            <a:ext cx="15240" cy="741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8A6D537-4947-4ABC-8E43-CC660D411FD4}"/>
              </a:ext>
            </a:extLst>
          </p:cNvPr>
          <p:cNvCxnSpPr>
            <a:cxnSpLocks/>
          </p:cNvCxnSpPr>
          <p:nvPr/>
        </p:nvCxnSpPr>
        <p:spPr>
          <a:xfrm>
            <a:off x="5003800" y="5732295"/>
            <a:ext cx="3149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84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6A51DB-9906-412D-9AB2-F6301F1CD6E9}"/>
              </a:ext>
            </a:extLst>
          </p:cNvPr>
          <p:cNvSpPr txBox="1"/>
          <p:nvPr/>
        </p:nvSpPr>
        <p:spPr>
          <a:xfrm>
            <a:off x="2016760" y="241969"/>
            <a:ext cx="8158480" cy="60589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effectLst/>
                <a:latin typeface="Arial" panose="020B0604020202020204" pitchFamily="34" charset="0"/>
                <a:ea typeface="Bookman Old Style" panose="02050604050505020204" pitchFamily="18" charset="0"/>
                <a:cs typeface="Arial" panose="020B0604020202020204" pitchFamily="34" charset="0"/>
              </a:rPr>
              <a:t>Hardware and Software Requirements</a:t>
            </a:r>
            <a:endParaRPr lang="en-IN" sz="3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643111-6537-4BE2-9A96-21C2E1593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059897" y="4725897"/>
            <a:ext cx="2844800" cy="1419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6A8999-D826-48AC-82E0-5D5832927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74939" y="3960180"/>
            <a:ext cx="2679997" cy="3354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00EB97-F29F-4755-905E-6F151A9DE4F7}"/>
              </a:ext>
            </a:extLst>
          </p:cNvPr>
          <p:cNvSpPr txBox="1">
            <a:spLocks/>
          </p:cNvSpPr>
          <p:nvPr/>
        </p:nvSpPr>
        <p:spPr>
          <a:xfrm>
            <a:off x="2407920" y="1072794"/>
            <a:ext cx="9914860" cy="5237974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7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Hardware Requirement: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System Processor   :   Pentium IV 2.4 GHz  or above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Hard Disk            	:   20 GB or above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Monitor	       	:   10/12/15 VGA color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Ram	                	:   4GB or above</a:t>
            </a:r>
            <a:endParaRPr lang="en-IN" sz="5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7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Software Requirement:</a:t>
            </a: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Operating system	       :  Windows 7/8/10/11.</a:t>
            </a:r>
          </a:p>
          <a:p>
            <a:pPr>
              <a:lnSpc>
                <a:spcPct val="120000"/>
              </a:lnSpc>
            </a:pP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Programming Language        :  python 3.7</a:t>
            </a:r>
          </a:p>
          <a:p>
            <a:pPr>
              <a:lnSpc>
                <a:spcPct val="120000"/>
              </a:lnSpc>
            </a:pP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 of Application	       :  Graphical User Interface</a:t>
            </a:r>
          </a:p>
          <a:p>
            <a:pPr>
              <a:lnSpc>
                <a:spcPct val="120000"/>
              </a:lnSpc>
            </a:pP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Frontend Technologies          :  </a:t>
            </a:r>
            <a:r>
              <a:rPr lang="en-IN" sz="56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Tkinter</a:t>
            </a:r>
            <a:r>
              <a:rPr lang="en-IN" sz="56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CNN with </a:t>
            </a: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supported libraries</a:t>
            </a:r>
          </a:p>
          <a:p>
            <a:pPr>
              <a:lnSpc>
                <a:spcPct val="120000"/>
              </a:lnSpc>
            </a:pP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Backend Technologies          : matplotlib, TensorFlow, </a:t>
            </a:r>
            <a:r>
              <a:rPr lang="en-IN" sz="56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Keras</a:t>
            </a: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etc.</a:t>
            </a:r>
          </a:p>
          <a:p>
            <a:pPr>
              <a:lnSpc>
                <a:spcPct val="120000"/>
              </a:lnSpc>
            </a:pPr>
            <a:r>
              <a:rPr lang="en-IN" sz="5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 		      :  X-ray/CT scan image (Brain)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1800" dirty="0">
              <a:latin typeface="Bookman Old Style" panose="02050604050505020204" pitchFamily="18" charset="0"/>
            </a:endParaRPr>
          </a:p>
        </p:txBody>
      </p:sp>
      <p:pic>
        <p:nvPicPr>
          <p:cNvPr id="12" name="Picture 2" descr="Python Logo, Programming Language, Executable, Computer Program, Plex ...">
            <a:extLst>
              <a:ext uri="{FF2B5EF4-FFF2-40B4-BE49-F238E27FC236}">
                <a16:creationId xmlns:a16="http://schemas.microsoft.com/office/drawing/2014/main" id="{11ED4F58-DBE4-426A-8AB9-97D817970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1000" y1="41750" x2="31000" y2="41750"/>
                        <a14:foregroundMark x1="52375" y1="36625" x2="37875" y2="35625"/>
                        <a14:foregroundMark x1="37875" y1="35625" x2="27750" y2="38625"/>
                        <a14:foregroundMark x1="27750" y1="38625" x2="23750" y2="44500"/>
                        <a14:foregroundMark x1="23750" y1="44500" x2="22875" y2="58125"/>
                        <a14:foregroundMark x1="22875" y1="58125" x2="26500" y2="48000"/>
                        <a14:foregroundMark x1="26500" y1="48000" x2="37000" y2="42375"/>
                        <a14:foregroundMark x1="37000" y1="42375" x2="47250" y2="43000"/>
                        <a14:foregroundMark x1="47250" y1="43000" x2="54250" y2="42000"/>
                        <a14:foregroundMark x1="54250" y1="42000" x2="59250" y2="34500"/>
                        <a14:foregroundMark x1="59250" y1="34500" x2="59875" y2="27125"/>
                        <a14:foregroundMark x1="59875" y1="27125" x2="56000" y2="24250"/>
                        <a14:foregroundMark x1="22750" y1="42000" x2="19125" y2="53875"/>
                        <a14:foregroundMark x1="19125" y1="53875" x2="21625" y2="61375"/>
                        <a14:foregroundMark x1="21625" y1="61375" x2="28875" y2="64875"/>
                        <a14:foregroundMark x1="28875" y1="64875" x2="29875" y2="55750"/>
                        <a14:foregroundMark x1="29875" y1="55750" x2="34250" y2="48250"/>
                        <a14:foregroundMark x1="34250" y1="48250" x2="52250" y2="45750"/>
                        <a14:foregroundMark x1="36250" y1="29250" x2="37250" y2="20500"/>
                        <a14:foregroundMark x1="37250" y1="20500" x2="47250" y2="17625"/>
                        <a14:foregroundMark x1="47250" y1="17625" x2="56875" y2="19375"/>
                        <a14:foregroundMark x1="56875" y1="19375" x2="64375" y2="27375"/>
                        <a14:foregroundMark x1="64375" y1="27375" x2="64250" y2="37250"/>
                        <a14:foregroundMark x1="64250" y1="37250" x2="59375" y2="45000"/>
                        <a14:foregroundMark x1="59375" y1="45000" x2="51875" y2="46500"/>
                        <a14:foregroundMark x1="51875" y1="46500" x2="51875" y2="4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319" y="881946"/>
            <a:ext cx="971939" cy="97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Opencv Svg">
            <a:extLst>
              <a:ext uri="{FF2B5EF4-FFF2-40B4-BE49-F238E27FC236}">
                <a16:creationId xmlns:a16="http://schemas.microsoft.com/office/drawing/2014/main" id="{27BBC44D-4CA5-4119-B6D3-8338B9CB1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282" y="1985965"/>
            <a:ext cx="570015" cy="57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ensorflow Logo Transparent, HD Png Download , Transparent Png Image ...">
            <a:extLst>
              <a:ext uri="{FF2B5EF4-FFF2-40B4-BE49-F238E27FC236}">
                <a16:creationId xmlns:a16="http://schemas.microsoft.com/office/drawing/2014/main" id="{396FBEBA-08F9-4CEA-9845-B5C093B23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764" b="90114" l="5349" r="95465">
                        <a14:foregroundMark x1="8256" y1="31217" x2="5349" y2="40687"/>
                        <a14:foregroundMark x1="5349" y1="40687" x2="10233" y2="46098"/>
                        <a14:foregroundMark x1="10233" y1="46098" x2="10814" y2="46098"/>
                        <a14:foregroundMark x1="57791" y1="6764" x2="54651" y2="10926"/>
                        <a14:foregroundMark x1="89419" y1="24558" x2="94186" y2="31426"/>
                        <a14:foregroundMark x1="94186" y1="31426" x2="91163" y2="38710"/>
                        <a14:foregroundMark x1="91163" y1="38710" x2="90349" y2="38814"/>
                        <a14:foregroundMark x1="95233" y1="26119" x2="95581" y2="37461"/>
                        <a14:foregroundMark x1="38023" y1="89178" x2="47907" y2="90114"/>
                        <a14:foregroundMark x1="47907" y1="90114" x2="48372" y2="90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966" y="2887671"/>
            <a:ext cx="869795" cy="97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238770-1674-4A7B-B75B-623527901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272270" y="-2549154"/>
            <a:ext cx="2487738" cy="3094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E096EF-A0DB-4042-BF10-D803C8B63E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64" b="99336" l="1477" r="99367">
                        <a14:foregroundMark x1="8228" y1="5648" x2="98523" y2="84718"/>
                        <a14:foregroundMark x1="97257" y1="89037" x2="99156" y2="96678"/>
                        <a14:foregroundMark x1="98523" y1="94684" x2="99789" y2="99336"/>
                        <a14:foregroundMark x1="6540" y1="8638" x2="1899" y2="997"/>
                        <a14:foregroundMark x1="3586" y1="4319" x2="1477" y2="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719114" y="6719483"/>
            <a:ext cx="2548128" cy="1618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4589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8B5AA-347E-49E0-B38A-CC14B0E23896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lang="en-US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90EEF-D007-453E-A7E3-362183015513}"/>
              </a:ext>
            </a:extLst>
          </p:cNvPr>
          <p:cNvSpPr txBox="1"/>
          <p:nvPr/>
        </p:nvSpPr>
        <p:spPr>
          <a:xfrm>
            <a:off x="1488439" y="2365817"/>
            <a:ext cx="92151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Better Accuracy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Detects tumors more accurately than traditional methods.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Faster Processing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Quickly analyzes large amounts of medical images.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Consistent Results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Provides uniform outcomes, reducing human error.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Automated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Reduces the need for manual analysis by doctors.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BCACC-CD2D-4447-BDC2-34D21E7A1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47184" y="-425306"/>
            <a:ext cx="2487738" cy="3094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B8C4F4-FEB4-4595-A9E0-FEE502EE2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4" b="99336" l="1477" r="99367">
                        <a14:foregroundMark x1="8228" y1="5648" x2="98523" y2="84718"/>
                        <a14:foregroundMark x1="97257" y1="89037" x2="99156" y2="96678"/>
                        <a14:foregroundMark x1="98523" y1="94684" x2="99789" y2="99336"/>
                        <a14:foregroundMark x1="6540" y1="8638" x2="1899" y2="997"/>
                        <a14:foregroundMark x1="3586" y1="4319" x2="1477" y2="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311002"/>
            <a:ext cx="2548128" cy="1618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88C350-D321-493A-9900-94C3490E27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932" y="-2453471"/>
            <a:ext cx="4524375" cy="2257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3F0A53-D30A-4AE5-9F93-3790BEB60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616169" y="5403305"/>
            <a:ext cx="3455120" cy="4325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225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8B5AA-347E-49E0-B38A-CC14B0E23896}"/>
              </a:ext>
            </a:extLst>
          </p:cNvPr>
          <p:cNvSpPr txBox="1"/>
          <p:nvPr/>
        </p:nvSpPr>
        <p:spPr>
          <a:xfrm>
            <a:off x="3828362" y="36939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US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90EEF-D007-453E-A7E3-362183015513}"/>
              </a:ext>
            </a:extLst>
          </p:cNvPr>
          <p:cNvSpPr txBox="1"/>
          <p:nvPr/>
        </p:nvSpPr>
        <p:spPr>
          <a:xfrm>
            <a:off x="1488439" y="2365817"/>
            <a:ext cx="9215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Finding Tumors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Identifies tumors in MRI and CT scans.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Classifying Tumors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Determines the type and grade of tumors.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Planning Surgery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Helps doctors plan where to operate.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cs typeface="Arial" panose="020B0604020202020204" pitchFamily="34" charset="0"/>
              </a:rPr>
              <a:t>Tracking Tumors</a:t>
            </a:r>
            <a:r>
              <a:rPr lang="en-US" sz="2400" b="0" i="0" dirty="0">
                <a:effectLst/>
                <a:cs typeface="Arial" panose="020B0604020202020204" pitchFamily="34" charset="0"/>
              </a:rPr>
              <a:t>: Monitors how tumors change over time.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65DDDD-E72B-4C0D-8F8A-DF8D71CA1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25" y="4952"/>
            <a:ext cx="4524375" cy="2257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1C17D2-A526-42FE-A96B-B55705D85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7400" y="3199204"/>
            <a:ext cx="3455120" cy="4325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74980A-6459-45E6-9F98-334B944C9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006944" y="-2575802"/>
            <a:ext cx="2487738" cy="3094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D63210-3415-4B11-8578-8306644B1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4" b="99336" l="1477" r="99367">
                        <a14:foregroundMark x1="8228" y1="5648" x2="98523" y2="84718"/>
                        <a14:foregroundMark x1="97257" y1="89037" x2="99156" y2="96678"/>
                        <a14:foregroundMark x1="98523" y1="94684" x2="99789" y2="99336"/>
                        <a14:foregroundMark x1="6540" y1="8638" x2="1899" y2="997"/>
                        <a14:foregroundMark x1="3586" y1="4319" x2="1477" y2="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687269" y="6719483"/>
            <a:ext cx="2548128" cy="1618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6892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8B5AA-347E-49E0-B38A-CC14B0E23896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48A96-43A9-4B6D-B175-C29F2B969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" b="99336" l="1477" r="99367">
                        <a14:foregroundMark x1="8228" y1="5648" x2="98523" y2="84718"/>
                        <a14:foregroundMark x1="97257" y1="89037" x2="99156" y2="96678"/>
                        <a14:foregroundMark x1="98523" y1="94684" x2="99789" y2="99336"/>
                        <a14:foregroundMark x1="6540" y1="8638" x2="1899" y2="997"/>
                        <a14:foregroundMark x1="3586" y1="4319" x2="1477" y2="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311002"/>
            <a:ext cx="2548128" cy="16181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46C7EA-DD98-4496-B971-6C6CA5D86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47184" y="-425306"/>
            <a:ext cx="2487738" cy="3094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B80448E-4051-40B1-AB86-8E94463C47FE}"/>
              </a:ext>
            </a:extLst>
          </p:cNvPr>
          <p:cNvSpPr txBox="1">
            <a:spLocks/>
          </p:cNvSpPr>
          <p:nvPr/>
        </p:nvSpPr>
        <p:spPr>
          <a:xfrm>
            <a:off x="2279503" y="5911998"/>
            <a:ext cx="8073081" cy="7340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upload dataset in above screen click on “upload Tumor X-Ray Images Dataset’ button and get below output.</a:t>
            </a:r>
            <a:endParaRPr lang="en-US" sz="1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3159238-D0A2-4F95-92DF-CF228595C5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764" y="1345412"/>
            <a:ext cx="8516471" cy="4395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58AFBD-7D91-4042-AFC1-2588A1EE1F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80" y="-1986639"/>
            <a:ext cx="2712720" cy="1353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0CE34-CFE4-46AA-BE7C-89DF25A39F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6186" y="5629810"/>
            <a:ext cx="1294608" cy="2032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6862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3AA844-B6FC-4240-BC5C-158EF53171B4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25483D-A8CF-4701-A21E-A65BD0095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80" y="0"/>
            <a:ext cx="2712720" cy="1353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36A3CE-E9D9-4A2C-9184-EE130A9ED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6320"/>
            <a:ext cx="1294608" cy="2032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458572-838E-4A07-9716-ED60A55B7B99}"/>
              </a:ext>
            </a:extLst>
          </p:cNvPr>
          <p:cNvSpPr txBox="1"/>
          <p:nvPr/>
        </p:nvSpPr>
        <p:spPr>
          <a:xfrm>
            <a:off x="1865146" y="5459329"/>
            <a:ext cx="7933037" cy="1291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above screen selecting and uploading ‘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brain tumor dataset</a:t>
            </a: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 dataset folder and then click on ‘Select Folder’ button to upload dataset and to get below output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16801-3460-4193-B461-97D209054C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917" y="981633"/>
            <a:ext cx="8584163" cy="4430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4BF219-54C7-420B-9024-AF730E55B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422877" y="-2322443"/>
            <a:ext cx="2487738" cy="3094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49862E-0C80-414E-99EA-EF64212AFC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873" l="100" r="95300">
                        <a14:foregroundMark x1="1500" y1="3177" x2="20200" y2="35705"/>
                        <a14:foregroundMark x1="20200" y1="35705" x2="49400" y2="55909"/>
                        <a14:foregroundMark x1="49400" y1="55909" x2="64600" y2="60864"/>
                        <a14:foregroundMark x1="64600" y1="60864" x2="77700" y2="78526"/>
                        <a14:foregroundMark x1="77700" y1="78526" x2="85500" y2="79288"/>
                        <a14:foregroundMark x1="85500" y1="79288" x2="88300" y2="93393"/>
                        <a14:foregroundMark x1="88300" y1="93393" x2="85500" y2="99746"/>
                        <a14:foregroundMark x1="85500" y1="99746" x2="85100" y2="99873"/>
                        <a14:foregroundMark x1="91400" y1="74460" x2="94200" y2="83355"/>
                        <a14:foregroundMark x1="94200" y1="83355" x2="91400" y2="94917"/>
                        <a14:foregroundMark x1="91400" y1="94917" x2="91400" y2="94917"/>
                        <a14:foregroundMark x1="95300" y1="79161" x2="95300" y2="84752"/>
                        <a14:foregroundMark x1="2000" y1="4066" x2="3700" y2="90089"/>
                        <a14:foregroundMark x1="3700" y1="90089" x2="5100" y2="92630"/>
                        <a14:foregroundMark x1="7700" y1="11182" x2="800" y2="2795"/>
                        <a14:foregroundMark x1="9600" y1="6607" x2="2700" y2="1017"/>
                        <a14:foregroundMark x1="1300" y1="1271" x2="2300" y2="1652"/>
                        <a14:foregroundMark x1="2300" y1="1271" x2="800" y2="127"/>
                        <a14:foregroundMark x1="2200" y1="889" x2="800" y2="127"/>
                        <a14:foregroundMark x1="1200" y1="3685" x2="100" y2="13723"/>
                        <a14:foregroundMark x1="100" y1="13723" x2="100" y2="13723"/>
                        <a14:foregroundMark x1="15600" y1="78018" x2="39800" y2="83355"/>
                        <a14:foregroundMark x1="39800" y1="83355" x2="50000" y2="82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7821" y="6411351"/>
            <a:ext cx="2265667" cy="1783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259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1A910A-81A6-4C1C-8496-9417427D6754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D05D4D-D984-460D-9357-B5D257997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547184" y="-425306"/>
            <a:ext cx="2487738" cy="3094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57A2BE-77DC-4E67-9425-6D94C05CBA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873" l="100" r="95300">
                        <a14:foregroundMark x1="1500" y1="3177" x2="20200" y2="35705"/>
                        <a14:foregroundMark x1="20200" y1="35705" x2="49400" y2="55909"/>
                        <a14:foregroundMark x1="49400" y1="55909" x2="64600" y2="60864"/>
                        <a14:foregroundMark x1="64600" y1="60864" x2="77700" y2="78526"/>
                        <a14:foregroundMark x1="77700" y1="78526" x2="85500" y2="79288"/>
                        <a14:foregroundMark x1="85500" y1="79288" x2="88300" y2="93393"/>
                        <a14:foregroundMark x1="88300" y1="93393" x2="85500" y2="99746"/>
                        <a14:foregroundMark x1="85500" y1="99746" x2="85100" y2="99873"/>
                        <a14:foregroundMark x1="91400" y1="74460" x2="94200" y2="83355"/>
                        <a14:foregroundMark x1="94200" y1="83355" x2="91400" y2="94917"/>
                        <a14:foregroundMark x1="91400" y1="94917" x2="91400" y2="94917"/>
                        <a14:foregroundMark x1="95300" y1="79161" x2="95300" y2="84752"/>
                        <a14:foregroundMark x1="2000" y1="4066" x2="3700" y2="90089"/>
                        <a14:foregroundMark x1="3700" y1="90089" x2="5100" y2="92630"/>
                        <a14:foregroundMark x1="7700" y1="11182" x2="800" y2="2795"/>
                        <a14:foregroundMark x1="9600" y1="6607" x2="2700" y2="1017"/>
                        <a14:foregroundMark x1="1300" y1="1271" x2="2300" y2="1652"/>
                        <a14:foregroundMark x1="2300" y1="1271" x2="800" y2="127"/>
                        <a14:foregroundMark x1="2200" y1="889" x2="800" y2="127"/>
                        <a14:foregroundMark x1="1200" y1="3685" x2="100" y2="13723"/>
                        <a14:foregroundMark x1="100" y1="13723" x2="100" y2="13723"/>
                        <a14:foregroundMark x1="15600" y1="78018" x2="39800" y2="83355"/>
                        <a14:foregroundMark x1="39800" y1="83355" x2="50000" y2="82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" y="5074920"/>
            <a:ext cx="2265667" cy="1783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978E03-BA72-4B57-8A71-EADFBDD903D8}"/>
              </a:ext>
            </a:extLst>
          </p:cNvPr>
          <p:cNvSpPr txBox="1"/>
          <p:nvPr/>
        </p:nvSpPr>
        <p:spPr>
          <a:xfrm>
            <a:off x="2264883" y="5445916"/>
            <a:ext cx="7795623" cy="1291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above screen dataset loaded and now click on ‘Dataset Preprocessing &amp; Feature</a:t>
            </a:r>
            <a:r>
              <a:rPr lang="en-US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Extraction</a:t>
            </a: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 button to normalize image and get below output.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859DF-FE0D-4006-8ADF-9A09CBA443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284" y="1063950"/>
            <a:ext cx="8451429" cy="4362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1D646F-727F-4610-A041-AE0D687CFF8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968885" y="-1202603"/>
            <a:ext cx="2682240" cy="2682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207D8-41C9-4EA0-BA17-BD62A1D26C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632030" y="5311696"/>
            <a:ext cx="2996825" cy="22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67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2655F-9D28-43EB-9FE7-F9B4F4E31550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0AB4C8-630D-47CA-AA18-4212B354CE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509760" y="-882"/>
            <a:ext cx="2682240" cy="2682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887E72-4E8C-4443-874F-5AF7B7E40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74603" y="4235778"/>
            <a:ext cx="2996825" cy="22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C245E1-FCD8-49BD-80C0-1F0D84EC79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70" y="933786"/>
            <a:ext cx="8693860" cy="4487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4CCC9-0848-4341-B0AE-698851A58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040815" y="4255433"/>
            <a:ext cx="3298785" cy="1645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8140EC-5E9E-4B7D-ADD8-88E15AA7F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584273" y="3726231"/>
            <a:ext cx="4348065" cy="32667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7515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EB195A-2471-4B56-AD71-A41678F7C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719646" y="4385648"/>
            <a:ext cx="3298785" cy="1645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520593-64AA-4A6F-AA91-70E1A1D84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540678" y="3050612"/>
            <a:ext cx="4348065" cy="32667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05A6F3-9AF6-498C-97D1-10D3F31940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97" y="744416"/>
            <a:ext cx="7679440" cy="3963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52B562-5BB6-40A1-AFC3-DB279BEB3CC8}"/>
              </a:ext>
            </a:extLst>
          </p:cNvPr>
          <p:cNvSpPr txBox="1"/>
          <p:nvPr/>
        </p:nvSpPr>
        <p:spPr>
          <a:xfrm>
            <a:off x="2136710" y="4766383"/>
            <a:ext cx="8334723" cy="170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above screen all 173 images from dataset are normalized and number of classes are 2 and labels found in dataset are ‘No Tumor Detected’, ‘Tumor Detected’ now click the ‘Trained CNN Brain Tumor Detection Model’ Button to Train and view the Model.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33767-B667-41D2-AB3F-EAF2A04F761E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7B1223-6EA0-4F82-9BA1-A951700084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634634" y="6127867"/>
            <a:ext cx="1947020" cy="146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35C0FD-5875-4DCC-B26D-B8495C3146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2" b="95349" l="844" r="99578">
                        <a14:foregroundMark x1="39662" y1="14950" x2="39662" y2="14950"/>
                        <a14:foregroundMark x1="6329" y1="4983" x2="78481" y2="60133"/>
                        <a14:foregroundMark x1="78481" y1="60133" x2="97890" y2="87708"/>
                        <a14:foregroundMark x1="844" y1="664" x2="50000" y2="35548"/>
                        <a14:foregroundMark x1="97890" y1="91362" x2="99578" y2="95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689661" y="6473645"/>
            <a:ext cx="1912776" cy="1214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036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2655F-9D28-43EB-9FE7-F9B4F4E31550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69DA-C124-4FBE-81B9-7862E2A1C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244979" y="5397734"/>
            <a:ext cx="1947020" cy="146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C751EC-1072-4F50-BE94-6273FD856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2" b="95349" l="844" r="99578">
                        <a14:foregroundMark x1="39662" y1="14950" x2="39662" y2="14950"/>
                        <a14:foregroundMark x1="6329" y1="4983" x2="78481" y2="60133"/>
                        <a14:foregroundMark x1="78481" y1="60133" x2="97890" y2="87708"/>
                        <a14:foregroundMark x1="844" y1="664" x2="50000" y2="35548"/>
                        <a14:foregroundMark x1="97890" y1="91362" x2="99578" y2="95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643345"/>
            <a:ext cx="1912776" cy="1214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F0F3D4-3194-45D6-A028-91F2D78155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830" y="744416"/>
            <a:ext cx="8257112" cy="4261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D814DF-8703-486F-882C-F05DB815A4AE}"/>
              </a:ext>
            </a:extLst>
          </p:cNvPr>
          <p:cNvSpPr txBox="1"/>
          <p:nvPr/>
        </p:nvSpPr>
        <p:spPr>
          <a:xfrm>
            <a:off x="2163219" y="5006290"/>
            <a:ext cx="8334723" cy="170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above screen we can see that the Brain Tumor Model Generated and the Accuracy on Test Images is 96.06% and Now click on the ‘Brain Tumor Segmentation &amp; Classification’ Button to Predict the Brain Tumor for New X-ray Image.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331DC9-D233-4A16-9E63-04E601139C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7" b="97010" l="3376" r="99789">
                        <a14:foregroundMark x1="5485" y1="2990" x2="32278" y2="35216"/>
                        <a14:foregroundMark x1="32278" y1="35216" x2="67722" y2="50831"/>
                        <a14:foregroundMark x1="67722" y1="50831" x2="98523" y2="85714"/>
                        <a14:foregroundMark x1="3797" y1="6645" x2="8228" y2="14950"/>
                        <a14:foregroundMark x1="6751" y1="2990" x2="12658" y2="997"/>
                        <a14:foregroundMark x1="96414" y1="88704" x2="99789" y2="970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942" y="-1950814"/>
            <a:ext cx="3375886" cy="2143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BC20A0-60AE-437D-967C-0FE52C25D7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175073" y="3846763"/>
            <a:ext cx="2398188" cy="4026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4162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2655F-9D28-43EB-9FE7-F9B4F4E31550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169D0-A238-4AA7-9A3B-D1C19655D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7" b="97010" l="3376" r="99789">
                        <a14:foregroundMark x1="5485" y1="2990" x2="32278" y2="35216"/>
                        <a14:foregroundMark x1="32278" y1="35216" x2="67722" y2="50831"/>
                        <a14:foregroundMark x1="67722" y1="50831" x2="98523" y2="85714"/>
                        <a14:foregroundMark x1="3797" y1="6645" x2="8228" y2="14950"/>
                        <a14:foregroundMark x1="6751" y1="2990" x2="12658" y2="997"/>
                        <a14:foregroundMark x1="96414" y1="88704" x2="99789" y2="970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113" y="1"/>
            <a:ext cx="3375886" cy="2143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99D2A8-510B-448E-984F-3E37650726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81709" y="2944216"/>
            <a:ext cx="2398188" cy="4026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80B96E-5705-4A0C-9531-E3CCE0B8D0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01" y="1071880"/>
            <a:ext cx="8400878" cy="4336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CF4F7D-85B1-454B-B77E-5B2B733F8E0C}"/>
              </a:ext>
            </a:extLst>
          </p:cNvPr>
          <p:cNvSpPr txBox="1"/>
          <p:nvPr/>
        </p:nvSpPr>
        <p:spPr>
          <a:xfrm>
            <a:off x="2142668" y="5528804"/>
            <a:ext cx="8334723" cy="87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Select the Image to Detect the Brain Tumor and click on Open Now it will generate the result and display the result as below screen.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EC4D4-D345-47B6-871A-6D3E18042B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880528" y="-1229455"/>
            <a:ext cx="2844800" cy="284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21713D-801A-44A9-B670-FCBD53EB46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766099" y="5528804"/>
            <a:ext cx="1384371" cy="2324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0851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2655F-9D28-43EB-9FE7-F9B4F4E31550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AC8B1-5D36-460A-8033-BEDDFBAF9D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347200" y="0"/>
            <a:ext cx="2844800" cy="284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E6A14-B322-4556-8D29-67F915031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48081" y="4632138"/>
            <a:ext cx="1384371" cy="2324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34552-EE2D-4EF7-8D3E-BBC3D5E58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497" y="900621"/>
            <a:ext cx="8427004" cy="4349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78A1FF-78A3-44BC-9AFD-D43B75E699E3}"/>
              </a:ext>
            </a:extLst>
          </p:cNvPr>
          <p:cNvSpPr txBox="1"/>
          <p:nvPr/>
        </p:nvSpPr>
        <p:spPr>
          <a:xfrm>
            <a:off x="1882497" y="5311497"/>
            <a:ext cx="8690173" cy="1291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Bookman Old Style" panose="02050604050505020204" pitchFamily="18" charset="0"/>
                <a:cs typeface="Times New Roman" panose="02020603050405020304" pitchFamily="18" charset="0"/>
              </a:rPr>
              <a:t>This is the result of the Brain Tumor for New X-ray image and it also shows the location of the Brain Tumor with also segmented Image.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And next click on ‘Training Accuracy Graph’ button to view the Graph.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74228C-B8F4-460B-9E1E-D73BAB5D59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810437" y="-1123810"/>
            <a:ext cx="2996825" cy="22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191703-FA72-4963-8D66-F9BBC3F23A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2" b="95349" l="844" r="99578">
                        <a14:foregroundMark x1="39662" y1="14950" x2="39662" y2="14950"/>
                        <a14:foregroundMark x1="6329" y1="4983" x2="78481" y2="60133"/>
                        <a14:foregroundMark x1="78481" y1="60133" x2="97890" y2="87708"/>
                        <a14:foregroundMark x1="844" y1="664" x2="50000" y2="35548"/>
                        <a14:foregroundMark x1="97890" y1="91362" x2="99578" y2="95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586557" y="6029773"/>
            <a:ext cx="3230661" cy="2051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87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2655F-9D28-43EB-9FE7-F9B4F4E31550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0D0D0D"/>
                </a:solidFill>
                <a:latin typeface="Arial"/>
                <a:ea typeface="+mn-lt"/>
                <a:cs typeface="+mn-lt"/>
              </a:rPr>
              <a:t>Result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46E64C-39FA-4F4F-961B-5B5FF4E80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69778" y="374603"/>
            <a:ext cx="2996825" cy="2247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88ECDD-4724-4D8E-B054-D025BACBE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2" b="95349" l="844" r="99578">
                        <a14:foregroundMark x1="39662" y1="14950" x2="39662" y2="14950"/>
                        <a14:foregroundMark x1="6329" y1="4983" x2="78481" y2="60133"/>
                        <a14:foregroundMark x1="78481" y1="60133" x2="97890" y2="87708"/>
                        <a14:foregroundMark x1="844" y1="664" x2="50000" y2="35548"/>
                        <a14:foregroundMark x1="97890" y1="91362" x2="99578" y2="953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4806461"/>
            <a:ext cx="3230661" cy="2051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8286CB-0FE5-45E1-B26F-850DF77BE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330" y="851807"/>
            <a:ext cx="8775338" cy="4529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909C29-CBA2-4171-A0FB-39239F92BC2A}"/>
              </a:ext>
            </a:extLst>
          </p:cNvPr>
          <p:cNvSpPr txBox="1"/>
          <p:nvPr/>
        </p:nvSpPr>
        <p:spPr>
          <a:xfrm>
            <a:off x="2733467" y="5383313"/>
            <a:ext cx="8334723" cy="1291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Bookman Old Style" panose="02050604050505020204" pitchFamily="18" charset="0"/>
                <a:cs typeface="Times New Roman" panose="02020603050405020304" pitchFamily="18" charset="0"/>
              </a:rPr>
              <a:t>This is the Gra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ph of Accuracy/Loss vs Training Epoch Graph and shows for every increase in epoch the loss decreases and accuracy increases.</a:t>
            </a:r>
            <a:endParaRPr lang="en-US" dirty="0"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1ACB93-23C3-4C54-B7DD-5CFE1A06DE4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873" l="100" r="95300">
                        <a14:foregroundMark x1="1500" y1="3177" x2="20200" y2="35705"/>
                        <a14:foregroundMark x1="20200" y1="35705" x2="49400" y2="55909"/>
                        <a14:foregroundMark x1="49400" y1="55909" x2="64600" y2="60864"/>
                        <a14:foregroundMark x1="64600" y1="60864" x2="77700" y2="78526"/>
                        <a14:foregroundMark x1="77700" y1="78526" x2="85500" y2="79288"/>
                        <a14:foregroundMark x1="85500" y1="79288" x2="88300" y2="93393"/>
                        <a14:foregroundMark x1="88300" y1="93393" x2="85500" y2="99746"/>
                        <a14:foregroundMark x1="85500" y1="99746" x2="85100" y2="99873"/>
                        <a14:foregroundMark x1="91400" y1="74460" x2="94200" y2="83355"/>
                        <a14:foregroundMark x1="94200" y1="83355" x2="91400" y2="94917"/>
                        <a14:foregroundMark x1="91400" y1="94917" x2="91400" y2="94917"/>
                        <a14:foregroundMark x1="95300" y1="79161" x2="95300" y2="84752"/>
                        <a14:foregroundMark x1="2000" y1="4066" x2="3700" y2="90089"/>
                        <a14:foregroundMark x1="3700" y1="90089" x2="5100" y2="92630"/>
                        <a14:foregroundMark x1="7700" y1="11182" x2="800" y2="2795"/>
                        <a14:foregroundMark x1="9600" y1="6607" x2="2700" y2="1017"/>
                        <a14:foregroundMark x1="1300" y1="1271" x2="2300" y2="1652"/>
                        <a14:foregroundMark x1="2300" y1="1271" x2="800" y2="127"/>
                        <a14:foregroundMark x1="2200" y1="889" x2="800" y2="127"/>
                        <a14:foregroundMark x1="1200" y1="3685" x2="100" y2="13723"/>
                        <a14:foregroundMark x1="100" y1="13723" x2="100" y2="13723"/>
                        <a14:foregroundMark x1="15600" y1="78018" x2="39800" y2="83355"/>
                        <a14:foregroundMark x1="39800" y1="83355" x2="50000" y2="82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483668" y="-2087770"/>
            <a:ext cx="3733800" cy="2938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2A997-529D-4DAE-9C11-DC137FFDEF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745115" y="4385648"/>
            <a:ext cx="3298785" cy="1645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0565FC-D482-44DD-B020-309D8273A4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159966" y="2669525"/>
            <a:ext cx="4969772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246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1EEA96-BCDE-4697-AEF4-E9B8C5A7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5" y="138517"/>
            <a:ext cx="605899" cy="605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F2655F-9D28-43EB-9FE7-F9B4F4E31550}"/>
              </a:ext>
            </a:extLst>
          </p:cNvPr>
          <p:cNvSpPr txBox="1"/>
          <p:nvPr/>
        </p:nvSpPr>
        <p:spPr>
          <a:xfrm>
            <a:off x="3828363" y="192945"/>
            <a:ext cx="4535273" cy="5514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3200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69D0C-D629-41A6-9C82-C897C960CE24}"/>
              </a:ext>
            </a:extLst>
          </p:cNvPr>
          <p:cNvSpPr txBox="1"/>
          <p:nvPr/>
        </p:nvSpPr>
        <p:spPr>
          <a:xfrm>
            <a:off x="1198880" y="1473200"/>
            <a:ext cx="96926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Improving accuracy in brain disease detection through ML/DL requires more data, </a:t>
            </a:r>
            <a:r>
              <a:rPr lang="en-US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hybrid algorithms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clinical integration.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Challenges include data quality, resource efficiency, and addressing data management, security, and privacy issues.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accurate diagnosis of tumor patients, an appropriate segmentation method is required for MRI images to improve diagnosis and treatment.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Brain Tumor detection aids physicians and benefits the medical imaging industry, especially those producing MRI images.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6D0B5-FBB7-4943-AFE5-C32C1C75BE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873" l="100" r="95300">
                        <a14:foregroundMark x1="1500" y1="3177" x2="20200" y2="35705"/>
                        <a14:foregroundMark x1="20200" y1="35705" x2="49400" y2="55909"/>
                        <a14:foregroundMark x1="49400" y1="55909" x2="64600" y2="60864"/>
                        <a14:foregroundMark x1="64600" y1="60864" x2="77700" y2="78526"/>
                        <a14:foregroundMark x1="77700" y1="78526" x2="85500" y2="79288"/>
                        <a14:foregroundMark x1="85500" y1="79288" x2="88300" y2="93393"/>
                        <a14:foregroundMark x1="88300" y1="93393" x2="85500" y2="99746"/>
                        <a14:foregroundMark x1="85500" y1="99746" x2="85100" y2="99873"/>
                        <a14:foregroundMark x1="91400" y1="74460" x2="94200" y2="83355"/>
                        <a14:foregroundMark x1="94200" y1="83355" x2="91400" y2="94917"/>
                        <a14:foregroundMark x1="91400" y1="94917" x2="91400" y2="94917"/>
                        <a14:foregroundMark x1="95300" y1="79161" x2="95300" y2="84752"/>
                        <a14:foregroundMark x1="2000" y1="4066" x2="3700" y2="90089"/>
                        <a14:foregroundMark x1="3700" y1="90089" x2="5100" y2="92630"/>
                        <a14:foregroundMark x1="7700" y1="11182" x2="800" y2="2795"/>
                        <a14:foregroundMark x1="9600" y1="6607" x2="2700" y2="1017"/>
                        <a14:foregroundMark x1="1300" y1="1271" x2="2300" y2="1652"/>
                        <a14:foregroundMark x1="2300" y1="1271" x2="800" y2="127"/>
                        <a14:foregroundMark x1="2200" y1="889" x2="800" y2="127"/>
                        <a14:foregroundMark x1="1200" y1="3685" x2="100" y2="13723"/>
                        <a14:foregroundMark x1="100" y1="13723" x2="100" y2="13723"/>
                        <a14:foregroundMark x1="15600" y1="78018" x2="39800" y2="83355"/>
                        <a14:foregroundMark x1="39800" y1="83355" x2="50000" y2="82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458200" y="-1"/>
            <a:ext cx="3733800" cy="2938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2949D8-065C-42CA-AAD1-944E69CE6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719646" y="4385648"/>
            <a:ext cx="3298785" cy="1645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3666F3-62BC-44ED-8B22-D02AA33A2B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7986" y="2506214"/>
            <a:ext cx="4969772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0607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8EF5A5-D430-4400-9725-0F038D573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41405"/>
      </p:ext>
    </p:extLst>
  </p:cSld>
  <p:clrMapOvr>
    <a:masterClrMapping/>
  </p:clrMapOvr>
  <p:transition spd="slow">
    <p:plus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1109</Words>
  <Application>Microsoft Office PowerPoint</Application>
  <PresentationFormat>Widescreen</PresentationFormat>
  <Paragraphs>132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Black</vt:lpstr>
      <vt:lpstr>Bookman Old Style</vt:lpstr>
      <vt:lpstr>Calibri</vt:lpstr>
      <vt:lpstr>Calibri Light</vt:lpstr>
      <vt:lpstr>Cambria</vt:lpstr>
      <vt:lpstr>Comic Sans MS</vt:lpstr>
      <vt:lpstr>Inter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Likhith Reddy Nandikonda</dc:creator>
  <cp:lastModifiedBy>Likhith Reddy Nandikonda</cp:lastModifiedBy>
  <cp:revision>46</cp:revision>
  <dcterms:created xsi:type="dcterms:W3CDTF">2024-07-07T03:26:58Z</dcterms:created>
  <dcterms:modified xsi:type="dcterms:W3CDTF">2024-07-13T04:38:40Z</dcterms:modified>
</cp:coreProperties>
</file>